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e964f48-35ff-3834-d816-f50b613444ab}">
          <p14:sldIdLst>
            <p14:sldId id="256"/>
            <p14:sldId id="257"/>
            <p14:sldId id="258"/>
          </p14:sldIdLst>
        </p14:section>
        <p14:section name="Architecture" id="{92e28bb2-8f39-64b2-5d5c-27616f5dabf5}">
          <p14:sldIdLst>
            <p14:sldId id="259"/>
          </p14:sldIdLst>
        </p14:section>
        <p14:section name="Application" id="{54170dbb-12a6-c56e-3c95-ec18f46be117}">
          <p14:sldIdLst>
            <p14:sldId id="260"/>
            <p14:sldId id="261"/>
            <p14:sldId id="262"/>
          </p14:sldIdLst>
        </p14:section>
        <p14:section name="Build and test" id="{f04d2688-67a0-a338-d74b-e97d2b45af84}">
          <p14:sldIdLst>
            <p14:sldId id="263"/>
            <p14:sldId id="264"/>
          </p14:sldIdLst>
        </p14:section>
        <p14:section name="Delivery" id="{b21a4a02-caf1-adf8-ce22-1115e988aad1}">
          <p14:sldIdLst>
            <p14:sldId id="265"/>
            <p14:sldId id="266"/>
          </p14:sldIdLst>
        </p14:section>
        <p14:section name="Infrastructure" id="{b9d5fd35-b0a4-5ed3-4090-68f3ba468fc2}">
          <p14:sldIdLst>
            <p14:sldId id="267"/>
            <p14:sldId id="268"/>
            <p14:sldId id="269"/>
            <p14:sldId id="270"/>
          </p14:sldIdLst>
        </p14:section>
        <p14:section name="Operate" id="{525d7002-b300-60c4-0f3a-0a651b5869ec}">
          <p14:sldIdLst>
            <p14:sldId id="271"/>
            <p14:sldId id="272"/>
            <p14:sldId id="273"/>
            <p14:sldId id="274"/>
          </p14:sldIdLst>
        </p14:section>
        <p14:section name="Wrap-up" id="{a703b7d3-91a5-f18b-4c85-9753b6a57293}">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4A3F"/>
                </a:solidFill>
                <a:latin typeface="+mn-lt"/>
              </a:defRPr>
            </a:pPr>
            <a:r>
              <a:rPr sz="1300" b="0" i="0" u="none" strike="noStrike">
                <a:solidFill>
                  <a:srgbClr val="5A4A3F"/>
                </a:solidFill>
                <a:latin typeface="+mn-lt"/>
              </a:rPr>
              <a:t>Replicas (bars) vs CPU % of request (line), sampled every 15 s</a:t>
            </a:r>
          </a:p>
        </c:rich>
      </c:tx>
      <c:layout/>
      <c:overlay val="0"/>
    </c:title>
    <c:autoTitleDeleted val="0"/>
    <c:plotArea>
      <c:layout/>
      <c:barChart>
        <c:barDir val="col"/>
        <c:grouping val="clustered"/>
        <c:varyColors val="0"/>
        <c:ser>
          <c:idx val="0"/>
          <c:order val="0"/>
          <c:tx>
            <c:strRef>
              <c:f>Sheet1!$B$1</c:f>
              <c:strCache>
                <c:ptCount val="1"/>
                <c:pt idx="0">
                  <c:v>Backend replicas</c:v>
                </c:pt>
              </c:strCache>
            </c:strRef>
          </c:tx>
          <c:spPr>
            <a:solidFill>
              <a:srgbClr val="C241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0s</c:v>
                  </c:pt>
                  <c:pt idx="1">
                    <c:v>15s</c:v>
                  </c:pt>
                  <c:pt idx="2">
                    <c:v>30s</c:v>
                  </c:pt>
                  <c:pt idx="3">
                    <c:v>45s</c:v>
                  </c:pt>
                  <c:pt idx="4">
                    <c:v>60s</c:v>
                  </c:pt>
                  <c:pt idx="5">
                    <c:v>75s</c:v>
                  </c:pt>
                  <c:pt idx="6">
                    <c:v>90s</c:v>
                  </c:pt>
                  <c:pt idx="7">
                    <c:v>105s</c:v>
                  </c:pt>
                  <c:pt idx="8">
                    <c:v>120s</c:v>
                  </c:pt>
                  <c:pt idx="9">
                    <c:v>135s</c:v>
                  </c:pt>
                  <c:pt idx="10">
                    <c:v>150s</c:v>
                  </c:pt>
                  <c:pt idx="11">
                    <c:v>165s</c:v>
                  </c:pt>
                  <c:pt idx="12">
                    <c:v>180s</c:v>
                  </c:pt>
                  <c:pt idx="13">
                    <c:v>195s</c:v>
                  </c:pt>
                  <c:pt idx="14">
                    <c:v>210s</c:v>
                  </c:pt>
                </c:lvl>
              </c:multiLvlStrCache>
            </c:multiLvlStrRef>
          </c:cat>
          <c:val>
            <c:numRef>
              <c:f>Sheet1!$B$2:$B$16</c:f>
              <c:numCache>
                <c:formatCode>General</c:formatCode>
                <c:ptCount val="15"/>
                <c:pt idx="0">
                  <c:v>2</c:v>
                </c:pt>
                <c:pt idx="1">
                  <c:v>2</c:v>
                </c:pt>
                <c:pt idx="2">
                  <c:v>2</c:v>
                </c:pt>
                <c:pt idx="3">
                  <c:v>2</c:v>
                </c:pt>
                <c:pt idx="4">
                  <c:v>2</c:v>
                </c:pt>
                <c:pt idx="5">
                  <c:v>2</c:v>
                </c:pt>
                <c:pt idx="6">
                  <c:v>4</c:v>
                </c:pt>
                <c:pt idx="7">
                  <c:v>4</c:v>
                </c:pt>
                <c:pt idx="8">
                  <c:v>6</c:v>
                </c:pt>
                <c:pt idx="9">
                  <c:v>6</c:v>
                </c:pt>
                <c:pt idx="10">
                  <c:v>6</c:v>
                </c:pt>
                <c:pt idx="11">
                  <c:v>6</c:v>
                </c:pt>
                <c:pt idx="12">
                  <c:v>6</c:v>
                </c:pt>
                <c:pt idx="13">
                  <c:v>6</c:v>
                </c:pt>
                <c:pt idx="14">
                  <c:v>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CPU % of request</c:v>
                </c:pt>
              </c:strCache>
            </c:strRef>
          </c:tx>
          <c:spPr>
            <a:solidFill>
              <a:srgbClr val="2B211B"/>
            </a:solidFill>
            <a:ln w="31750" cap="flat">
              <a:solidFill>
                <a:srgbClr val="2B2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B211B"/>
              </a:solidFill>
              <a:ln w="9525" cap="flat">
                <a:solidFill>
                  <a:srgbClr val="2B211B"/>
                </a:solidFill>
                <a:prstDash val="solid"/>
                <a:round/>
              </a:ln>
              <a:effectLst/>
            </c:spPr>
          </c:marker>
          <c:cat>
            <c:multiLvlStrRef>
              <c:f>Sheet1!$A$2:$A$16</c:f>
              <c:multiLvlStrCache>
                <c:ptCount val="15"/>
                <c:lvl>
                  <c:pt idx="0">
                    <c:v>0s</c:v>
                  </c:pt>
                  <c:pt idx="1">
                    <c:v>15s</c:v>
                  </c:pt>
                  <c:pt idx="2">
                    <c:v>30s</c:v>
                  </c:pt>
                  <c:pt idx="3">
                    <c:v>45s</c:v>
                  </c:pt>
                  <c:pt idx="4">
                    <c:v>60s</c:v>
                  </c:pt>
                  <c:pt idx="5">
                    <c:v>75s</c:v>
                  </c:pt>
                  <c:pt idx="6">
                    <c:v>90s</c:v>
                  </c:pt>
                  <c:pt idx="7">
                    <c:v>105s</c:v>
                  </c:pt>
                  <c:pt idx="8">
                    <c:v>120s</c:v>
                  </c:pt>
                  <c:pt idx="9">
                    <c:v>135s</c:v>
                  </c:pt>
                  <c:pt idx="10">
                    <c:v>150s</c:v>
                  </c:pt>
                  <c:pt idx="11">
                    <c:v>165s</c:v>
                  </c:pt>
                  <c:pt idx="12">
                    <c:v>180s</c:v>
                  </c:pt>
                  <c:pt idx="13">
                    <c:v>195s</c:v>
                  </c:pt>
                  <c:pt idx="14">
                    <c:v>210s</c:v>
                  </c:pt>
                </c:lvl>
              </c:multiLvlStrCache>
            </c:multiLvlStrRef>
          </c:cat>
          <c:val>
            <c:numRef>
              <c:f>Sheet1!$C$2:$C$16</c:f>
              <c:numCache>
                <c:formatCode>General</c:formatCode>
                <c:ptCount val="15"/>
                <c:pt idx="0">
                  <c:v>2</c:v>
                </c:pt>
                <c:pt idx="1">
                  <c:v>2</c:v>
                </c:pt>
                <c:pt idx="2">
                  <c:v>2</c:v>
                </c:pt>
                <c:pt idx="3">
                  <c:v>2</c:v>
                </c:pt>
                <c:pt idx="4">
                  <c:v>2</c:v>
                </c:pt>
                <c:pt idx="5">
                  <c:v>438</c:v>
                </c:pt>
                <c:pt idx="6">
                  <c:v>438</c:v>
                </c:pt>
                <c:pt idx="7">
                  <c:v>438</c:v>
                </c:pt>
                <c:pt idx="8">
                  <c:v>438</c:v>
                </c:pt>
                <c:pt idx="9">
                  <c:v>348</c:v>
                </c:pt>
                <c:pt idx="10">
                  <c:v>348</c:v>
                </c:pt>
                <c:pt idx="11">
                  <c:v>348</c:v>
                </c:pt>
                <c:pt idx="12">
                  <c:v>348</c:v>
                </c:pt>
                <c:pt idx="13">
                  <c:v>170</c:v>
                </c:pt>
                <c:pt idx="14">
                  <c:v>170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title>
          <c:tx>
            <c:rich>
              <a:bodyPr/>
              <a:lstStyle/>
              <a:p>
                <a:pPr>
                  <a:defRPr sz="1100" b="0" i="0" u="none" strike="noStrike">
                    <a:solidFill>
                      <a:srgbClr val="8A7F73"/>
                    </a:solidFill>
                    <a:latin typeface="Arial"/>
                  </a:defRPr>
                </a:pPr>
                <a:r>
                  <a:rPr sz="1100" b="0" i="0" u="none" strike="noStrike">
                    <a:solidFill>
                      <a:srgbClr val="8A7F73"/>
                    </a:solidFill>
                    <a:latin typeface="Arial"/>
                  </a:rPr>
                  <a:t>time since load started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7F73"/>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E6DED4"/>
              </a:solidFill>
              <a:prstDash val="solid"/>
              <a:round/>
            </a:ln>
          </c:spPr>
        </c:majorGridlines>
        <c:title>
          <c:tx>
            <c:rich>
              <a:bodyPr/>
              <a:lstStyle/>
              <a:p>
                <a:pPr>
                  <a:defRPr sz="1100" b="0" i="0" u="none" strike="noStrike">
                    <a:solidFill>
                      <a:srgbClr val="8A7F73"/>
                    </a:solidFill>
                    <a:latin typeface="Arial"/>
                  </a:defRPr>
                </a:pPr>
                <a:r>
                  <a:rPr sz="1100" b="0" i="0" u="none" strike="noStrike">
                    <a:solidFill>
                      <a:srgbClr val="8A7F73"/>
                    </a:solidFill>
                    <a:latin typeface="Arial"/>
                  </a:rPr>
                  <a:t>Replicas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F73"/>
                </a:solidFill>
                <a:latin typeface="+mn-lt"/>
              </a:defRPr>
            </a:pPr>
            <a:endParaRPr lang="en-US"/>
          </a:p>
        </c:txPr>
        <c:crossAx val="2094734554"/>
        <c:crosses val="autoZero"/>
        <c:crossBetween val="between"/>
        <c:majorUnit val="1"/>
      </c:valAx>
      <c:valAx>
        <c:axId val="2094734553"/>
        <c:scaling>
          <c:orientation val="minMax"/>
          <c:max val="500"/>
          <c:min val="0"/>
        </c:scaling>
        <c:delete val="0"/>
        <c:axPos val="r"/>
        <c:title>
          <c:tx>
            <c:rich>
              <a:bodyPr/>
              <a:lstStyle/>
              <a:p>
                <a:pPr>
                  <a:defRPr sz="1100" b="0" i="0" u="none" strike="noStrike">
                    <a:solidFill>
                      <a:srgbClr val="8A7F73"/>
                    </a:solidFill>
                    <a:latin typeface="Arial"/>
                  </a:defRPr>
                </a:pPr>
                <a:r>
                  <a:rPr sz="1100" b="0" i="0" u="none" strike="noStrike">
                    <a:solidFill>
                      <a:srgbClr val="8A7F73"/>
                    </a:solidFill>
                    <a:latin typeface="Arial"/>
                  </a:rPr>
                  <a:t>CPU % of request (target 60 %)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F73"/>
                </a:solidFill>
                <a:latin typeface="+mn-lt"/>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solidFill>
                <a:srgbClr val="5A4A3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GearLoop is a lab equipment checkout desk. The app is small on purpose: the point of the capstone is the path from a developer laptop to a monitored, autoscaling Kubernetes deployment. Everything in this deck is from the real running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register, check out and return, see what is overdue, and keep broken gear out of circulation. The status of each item is derived from its active loan and its condition, not stored separately, so it can never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open source and runs on one laptop. Python and React for the app, PostgreSQL for data, Docker and GitHub Actions for build and delivery, Terraform and Helm to describe the cluster, Argo CD for GitOps, and the Prometheus stack for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delivery path: a push runs the pipeline, which tests, builds and scans both images and pushes them to GHCR tagged with the commit SHA, then commits that tag to Git. Argo CD inside the cluster pulls the change and deploys that exact SHA. Terraform declares the cluster setup: the namespaces, quota, the monitoring stack and Argo CD itself. Inside the cluster the browser only ever talks to the Ingress, and Prometheus scrapes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main flows. All four are real screenshots from the running app. Dialogs are in-app rather than browser confirm boxes, and every API error comes back as a readable toast.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phone layout at 390 pixels. Right: what the user sees when the backend is stopped, which I captured by stopping the backend container. Below: the duplicate asset tag error coming back from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REST endpoints plus three operational ones. /health is liveness and never touches the database. /ready checks the database and the schema, so a pod with a bad DB password stops receiving traffic instead of restart-looping. Business rules are enforced in the database too, not only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code should die here, before Docker. 21 backend tests cover health, items, loans, overdue logic and the metrics endpoint. The CI job also applies the real migrations to a Postgres service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brings up Postgres, a one-shot migrate job, the API and the UI, each waiting on the previous one to be healthy. Both images run as non-root users, which the compose output proves with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test jobs run in parallel. Only if all pass does the image job build both images, scan them and push them tagged with the commit SHA. On main, a final job commits the new tags to Git for Argo CD; CI never talks to the cluster. Honest status: the workflow is linted with actionlint but has not run on GitHub yet, because the repo is not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CVE explanation the rubric asks for. The scan found four fixable HIGH vulnerabilities, all inside pip. Removing pip from the final image fixed them at the source. Both images now scan clean for fixable HIGH and CRITICAL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is out of scope for this project, so Terraform manages the local cluster instead of creating one in the cloud. It owns both namespaces, the quota and limit range, and the two Helm releases, in dependency order: monitoring first because the app chart needs its CRDs. I ran plan, apply, destroy and apply again. Because Terraform owns the namespaces, destroy also removes the things Helm keeps on uninstall, like the database Secret and the Postgres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pull-based. The pipeline does not run helm against the cluster. It only commits the new image tag to Git, and Argo CD running inside the cluster notices and syncs. That is why it works with a laptop cluster GitHub cannot reach. I tested it before pushing: a commit synced in 18 seconds, and a manual scale-down was reverted in 2 seconds. Argo CD cannot run Helm lookup, so the database password comes from a Terraform-created Secret and never appears in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deploys everything, and Terraform installs it. Before switching to Terraform I also tested upgrades and a rolling restart of six pods with no downtime. helm test runs a smoke-test pod that checks the API, the UI and the UI-to-API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served at gearloop.local through ingress-nginx. Slash goes to the frontend, slash-api and the docs go straight to the backend. While capturing these screenshots I restarted minikube and found the frontend crash-looping, because nginx resolves its upstream once at startup. Fixed and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samples from the load test I ran while making this deck. CPU jumped to more than seven times the target, and the HPA doubled the deployment, then tripled it. Scale-down is deliberately slower, with a two-minute stabilisation window, so it does not flap.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Grafana dashboard ships inside the Helm chart as a ConfigMap, so a fresh cluster gets it automatically. Besides HTTP traffic and latency it shows business data: how many items are on loan or overdue. All four alert rules are loaded; the overdue-equipment rule is pending because one item really is overdue.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passed for all of these. Each one only showed up in a real environment: a real helm install, a node restart, a real scan, and real multi-replica metrics. That is the argument for the whole DevOps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candidate: apply one manifest and diagnose it with describe, events and endpointslices. My favourite is number three, because it shows why liveness and readiness are separate probes.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I would do the same way again. The biggest one: every serious bug in this project passed the unit tests and only appeared in a real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status. Everything marked Done was run and screenshotted. The one remaining item needs something outside this laptop: a push to GitHub so the pipeline can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follows the video requirements in the rubric: codebase, CI/CD, Terraform, Argo CD, Kubernetes, Prometheus, Grafana. The exact commands are in demo/RECORDING-GUIDE.md.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246120"/>
            <a:ext cx="585216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GearLoop  ·  DevOps Capstone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280160"/>
          </a:xfrm>
          <a:prstGeom prst="rect">
            <a:avLst/>
          </a:prstGeom>
          <a:noFill/>
          <a:ln/>
        </p:spPr>
        <p:txBody>
          <a:bodyPr wrap="square" lIns="0" tIns="0" rIns="0" bIns="0" rtlCol="0" anchor="b"/>
          <a:lstStyle/>
          <a:p>
            <a:pPr algn="l" indent="0" marL="0">
              <a:buNone/>
            </a:pPr>
            <a:r>
              <a:rPr lang="en-US" sz="5400" b="1" dirty="0">
                <a:solidFill>
                  <a:schemeClr val="bg1"/>
                </a:solidFill>
              </a:rPr>
              <a:t>GearLoop</a:t>
            </a:r>
            <a:endParaRPr lang="en-US" sz="5400" dirty="0"/>
          </a:p>
        </p:txBody>
      </p:sp>
      <p:sp>
        <p:nvSpPr>
          <p:cNvPr id="3" name="Text 0"/>
          <p:cNvSpPr/>
          <p:nvPr>
            <p:ph idx="101" type="body" hasCustomPrompt="1"/>
          </p:nvPr>
        </p:nvSpPr>
        <p:spPr>
          <a:xfrm>
            <a:off x="548640" y="3246120"/>
            <a:ext cx="5852160" cy="1188720"/>
          </a:xfrm>
          <a:prstGeom prst="rect">
            <a:avLst/>
          </a:prstGeom>
          <a:noFill/>
          <a:ln/>
        </p:spPr>
        <p:txBody>
          <a:bodyPr wrap="square" lIns="0" tIns="0" rIns="0" bIns="0" rtlCol="0" anchor="t"/>
          <a:lstStyle/>
          <a:p>
            <a:pPr algn="l" indent="0" marL="0">
              <a:buNone/>
            </a:pPr>
            <a:r>
              <a:rPr lang="en-US" sz="2200" dirty="0">
                <a:solidFill>
                  <a:schemeClr val="bg2"/>
                </a:solidFill>
              </a:rPr>
              <a:t>A lab equipment desk, taken from a laptop to a monitored Kubernetes cluster</a:t>
            </a:r>
            <a:endParaRPr lang="en-US" sz="2200" dirty="0"/>
          </a:p>
        </p:txBody>
      </p:sp>
      <p:sp>
        <p:nvSpPr>
          <p:cNvPr id="4" name="badge-FaGear"/>
          <p:cNvSpPr/>
          <p:nvPr/>
        </p:nvSpPr>
        <p:spPr>
          <a:xfrm>
            <a:off x="548640" y="1143000"/>
            <a:ext cx="548640" cy="548640"/>
          </a:xfrm>
          <a:prstGeom prst="ellipse">
            <a:avLst/>
          </a:prstGeom>
          <a:solidFill>
            <a:schemeClr val="accent1"/>
          </a:solidFill>
          <a:ln w="12700">
            <a:solidFill>
              <a:schemeClr val="accent1"/>
            </a:solidFill>
            <a:prstDash val="solid"/>
          </a:ln>
        </p:spPr>
      </p:sp>
      <p:pic>
        <p:nvPicPr>
          <p:cNvPr id="5" name="icon-FaGear" descr="preencoded.png">    </p:cNvPr>
          <p:cNvPicPr>
            <a:picLocks noChangeAspect="1"/>
          </p:cNvPicPr>
          <p:nvPr/>
        </p:nvPicPr>
        <p:blipFill>
          <a:blip r:embed="rId1"/>
          <a:stretch>
            <a:fillRect/>
          </a:stretch>
        </p:blipFill>
        <p:spPr>
          <a:xfrm>
            <a:off x="680314" y="1274674"/>
            <a:ext cx="285293" cy="285293"/>
          </a:xfrm>
          <a:prstGeom prst="rect">
            <a:avLst/>
          </a:prstGeom>
        </p:spPr>
      </p:pic>
      <p:sp>
        <p:nvSpPr>
          <p:cNvPr id="6" name="Text 3"/>
          <p:cNvSpPr txBox="1"/>
          <p:nvPr/>
        </p:nvSpPr>
        <p:spPr>
          <a:xfrm>
            <a:off x="548640" y="4800600"/>
            <a:ext cx="5852160" cy="320040"/>
          </a:xfrm>
          <a:prstGeom prst="rect">
            <a:avLst/>
          </a:prstGeom>
          <a:noFill/>
          <a:ln/>
        </p:spPr>
        <p:txBody>
          <a:bodyPr wrap="square" lIns="0" tIns="0" rIns="0" bIns="0" rtlCol="0" anchor="t"/>
          <a:lstStyle/>
          <a:p>
            <a:pPr indent="0" marL="0">
              <a:buNone/>
            </a:pPr>
            <a:r>
              <a:rPr lang="en-US" sz="1500" b="1" dirty="0">
                <a:solidFill>
                  <a:schemeClr val="accent3"/>
                </a:solidFill>
              </a:rPr>
              <a:t>DevOps Final Capstone · Aastik Nayyar</a:t>
            </a:r>
            <a:endParaRPr lang="en-US" sz="1500" dirty="0"/>
          </a:p>
        </p:txBody>
      </p:sp>
      <p:sp>
        <p:nvSpPr>
          <p:cNvPr id="7" name="Text 4"/>
          <p:cNvSpPr txBox="1"/>
          <p:nvPr/>
        </p:nvSpPr>
        <p:spPr>
          <a:xfrm>
            <a:off x="548640" y="5212080"/>
            <a:ext cx="5760720" cy="640080"/>
          </a:xfrm>
          <a:prstGeom prst="rect">
            <a:avLst/>
          </a:prstGeom>
          <a:noFill/>
          <a:ln/>
        </p:spPr>
        <p:txBody>
          <a:bodyPr wrap="square" lIns="0" tIns="0" rIns="0" bIns="0" rtlCol="0" anchor="t"/>
          <a:lstStyle/>
          <a:p>
            <a:pPr indent="0" marL="0">
              <a:buNone/>
            </a:pPr>
            <a:r>
              <a:rPr lang="en-US" sz="1200" dirty="0">
                <a:solidFill>
                  <a:schemeClr val="accent6"/>
                </a:solidFill>
              </a:rPr>
              <a:t>React · FastAPI · PostgreSQL · Docker · GitHub Actions · Trivy · GHCR · Terraform · Kubernetes · Helm · Ingress · HPA · Prometheus · Grafana</a:t>
            </a:r>
            <a:endParaRPr lang="en-US" sz="1200" dirty="0"/>
          </a:p>
        </p:txBody>
      </p:sp>
      <p:pic>
        <p:nvPicPr>
          <p:cNvPr id="8" name="img-01-dashboard.png" descr="01-dashboard.png">    </p:cNvPr>
          <p:cNvPicPr>
            <a:picLocks noChangeAspect="1"/>
          </p:cNvPicPr>
          <p:nvPr/>
        </p:nvPicPr>
        <p:blipFill>
          <a:blip r:embed="rId2"/>
          <a:stretch>
            <a:fillRect/>
          </a:stretch>
        </p:blipFill>
        <p:spPr>
          <a:xfrm>
            <a:off x="6446520" y="1805940"/>
            <a:ext cx="5193792" cy="3246120"/>
          </a:xfrm>
          <a:prstGeom prst="rect">
            <a:avLst/>
          </a:prstGeom>
          <a:effectLst>
            <a:outerShdw sx="100000" sy="100000" kx="0" ky="0" algn="bl" rotWithShape="0" blurRad="127000" dist="38100" dir="5400000">
              <a:srgbClr val="3B2A1E">
                <a:alpha val="2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GearLoop does</a:t>
            </a:r>
            <a:endParaRPr lang="en-US" sz="3400" dirty="0"/>
          </a:p>
        </p:txBody>
      </p:sp>
      <p:sp>
        <p:nvSpPr>
          <p:cNvPr id="3" name="Text 1"/>
          <p:cNvSpPr txBox="1"/>
          <p:nvPr/>
        </p:nvSpPr>
        <p:spPr>
          <a:xfrm>
            <a:off x="548640" y="1325880"/>
            <a:ext cx="4937760" cy="914400"/>
          </a:xfrm>
          <a:prstGeom prst="rect">
            <a:avLst/>
          </a:prstGeom>
          <a:noFill/>
          <a:ln/>
        </p:spPr>
        <p:txBody>
          <a:bodyPr wrap="square" lIns="0" tIns="0" rIns="0" bIns="0" rtlCol="0" anchor="t"/>
          <a:lstStyle/>
          <a:p>
            <a:pPr indent="0" marL="0">
              <a:buNone/>
            </a:pPr>
            <a:r>
              <a:rPr lang="en-US" sz="1600" dirty="0">
                <a:solidFill>
                  <a:schemeClr val="tx2"/>
                </a:solidFill>
              </a:rPr>
              <a:t>Labs lend out oscilloscopes, cameras and dev kits on paper slips. Items go missing, nobody knows what is overdue, and broken gear gets lent out again.</a:t>
            </a:r>
            <a:endParaRPr lang="en-US" sz="1600" dirty="0"/>
          </a:p>
        </p:txBody>
      </p:sp>
      <p:sp>
        <p:nvSpPr>
          <p:cNvPr id="4" name="badge-FaBoxesStacked"/>
          <p:cNvSpPr/>
          <p:nvPr/>
        </p:nvSpPr>
        <p:spPr>
          <a:xfrm>
            <a:off x="548640" y="2468880"/>
            <a:ext cx="502920" cy="502920"/>
          </a:xfrm>
          <a:prstGeom prst="ellipse">
            <a:avLst/>
          </a:prstGeom>
          <a:solidFill>
            <a:schemeClr val="accent1"/>
          </a:solidFill>
          <a:ln w="12700">
            <a:solidFill>
              <a:schemeClr val="accent1"/>
            </a:solidFill>
            <a:prstDash val="solid"/>
          </a:ln>
        </p:spPr>
      </p:sp>
      <p:pic>
        <p:nvPicPr>
          <p:cNvPr id="5" name="icon-FaBoxesStacked" descr="preencoded.png">    </p:cNvPr>
          <p:cNvPicPr>
            <a:picLocks noChangeAspect="1"/>
          </p:cNvPicPr>
          <p:nvPr/>
        </p:nvPicPr>
        <p:blipFill>
          <a:blip r:embed="rId1"/>
          <a:stretch>
            <a:fillRect/>
          </a:stretch>
        </p:blipFill>
        <p:spPr>
          <a:xfrm>
            <a:off x="669341" y="2589581"/>
            <a:ext cx="261518" cy="261518"/>
          </a:xfrm>
          <a:prstGeom prst="rect">
            <a:avLst/>
          </a:prstGeom>
        </p:spPr>
      </p:pic>
      <p:sp>
        <p:nvSpPr>
          <p:cNvPr id="6" name="Text 3"/>
          <p:cNvSpPr txBox="1"/>
          <p:nvPr/>
        </p:nvSpPr>
        <p:spPr>
          <a:xfrm>
            <a:off x="1280160" y="242316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Register equipment</a:t>
            </a:r>
            <a:endParaRPr lang="en-US" sz="1600" dirty="0"/>
          </a:p>
          <a:p>
            <a:pPr indent="0" marL="0">
              <a:buNone/>
            </a:pPr>
            <a:r>
              <a:rPr lang="en-US" sz="1300" dirty="0">
                <a:solidFill>
                  <a:schemeClr val="tx2"/>
                </a:solidFill>
              </a:rPr>
              <a:t>asset tag, category, location, condition</a:t>
            </a:r>
            <a:endParaRPr lang="en-US" sz="1600" dirty="0"/>
          </a:p>
        </p:txBody>
      </p:sp>
      <p:sp>
        <p:nvSpPr>
          <p:cNvPr id="7" name="badge-FaHandshake"/>
          <p:cNvSpPr/>
          <p:nvPr/>
        </p:nvSpPr>
        <p:spPr>
          <a:xfrm>
            <a:off x="548640" y="3337560"/>
            <a:ext cx="502920" cy="502920"/>
          </a:xfrm>
          <a:prstGeom prst="ellipse">
            <a:avLst/>
          </a:prstGeom>
          <a:solidFill>
            <a:schemeClr val="accent1"/>
          </a:solidFill>
          <a:ln w="12700">
            <a:solidFill>
              <a:schemeClr val="accent1"/>
            </a:solidFill>
            <a:prstDash val="solid"/>
          </a:ln>
        </p:spPr>
      </p:sp>
      <p:pic>
        <p:nvPicPr>
          <p:cNvPr id="8" name="icon-FaHandshake" descr="preencoded.png">    </p:cNvPr>
          <p:cNvPicPr>
            <a:picLocks noChangeAspect="1"/>
          </p:cNvPicPr>
          <p:nvPr/>
        </p:nvPicPr>
        <p:blipFill>
          <a:blip r:embed="rId2"/>
          <a:stretch>
            <a:fillRect/>
          </a:stretch>
        </p:blipFill>
        <p:spPr>
          <a:xfrm>
            <a:off x="669341" y="3458261"/>
            <a:ext cx="261518" cy="261518"/>
          </a:xfrm>
          <a:prstGeom prst="rect">
            <a:avLst/>
          </a:prstGeom>
        </p:spPr>
      </p:pic>
      <p:sp>
        <p:nvSpPr>
          <p:cNvPr id="9" name="Text 5"/>
          <p:cNvSpPr txBox="1"/>
          <p:nvPr/>
        </p:nvSpPr>
        <p:spPr>
          <a:xfrm>
            <a:off x="1280160" y="329184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Check out and return</a:t>
            </a:r>
            <a:endParaRPr lang="en-US" sz="1600" dirty="0"/>
          </a:p>
          <a:p>
            <a:pPr indent="0" marL="0">
              <a:buNone/>
            </a:pPr>
            <a:r>
              <a:rPr lang="en-US" sz="1300" dirty="0">
                <a:solidFill>
                  <a:schemeClr val="tx2"/>
                </a:solidFill>
              </a:rPr>
              <a:t>borrower, purpose, 1–30 day loans</a:t>
            </a:r>
            <a:endParaRPr lang="en-US" sz="1600" dirty="0"/>
          </a:p>
        </p:txBody>
      </p:sp>
      <p:sp>
        <p:nvSpPr>
          <p:cNvPr id="10" name="badge-FaClock"/>
          <p:cNvSpPr/>
          <p:nvPr/>
        </p:nvSpPr>
        <p:spPr>
          <a:xfrm>
            <a:off x="548640" y="4206240"/>
            <a:ext cx="502920" cy="502920"/>
          </a:xfrm>
          <a:prstGeom prst="ellipse">
            <a:avLst/>
          </a:prstGeom>
          <a:solidFill>
            <a:schemeClr val="accent1"/>
          </a:solidFill>
          <a:ln w="12700">
            <a:solidFill>
              <a:schemeClr val="accent1"/>
            </a:solidFill>
            <a:prstDash val="solid"/>
          </a:ln>
        </p:spPr>
      </p:sp>
      <p:pic>
        <p:nvPicPr>
          <p:cNvPr id="11" name="icon-FaClock" descr="preencoded.png">    </p:cNvPr>
          <p:cNvPicPr>
            <a:picLocks noChangeAspect="1"/>
          </p:cNvPicPr>
          <p:nvPr/>
        </p:nvPicPr>
        <p:blipFill>
          <a:blip r:embed="rId3"/>
          <a:stretch>
            <a:fillRect/>
          </a:stretch>
        </p:blipFill>
        <p:spPr>
          <a:xfrm>
            <a:off x="669341" y="4326941"/>
            <a:ext cx="261518" cy="261518"/>
          </a:xfrm>
          <a:prstGeom prst="rect">
            <a:avLst/>
          </a:prstGeom>
        </p:spPr>
      </p:pic>
      <p:sp>
        <p:nvSpPr>
          <p:cNvPr id="12" name="Text 7"/>
          <p:cNvSpPr txBox="1"/>
          <p:nvPr/>
        </p:nvSpPr>
        <p:spPr>
          <a:xfrm>
            <a:off x="1280160" y="416052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Overdue at a glance</a:t>
            </a:r>
            <a:endParaRPr lang="en-US" sz="1600" dirty="0"/>
          </a:p>
          <a:p>
            <a:pPr indent="0" marL="0">
              <a:buNone/>
            </a:pPr>
            <a:r>
              <a:rPr lang="en-US" sz="1300" dirty="0">
                <a:solidFill>
                  <a:schemeClr val="tx2"/>
                </a:solidFill>
              </a:rPr>
              <a:t>status derived from due dates</a:t>
            </a:r>
            <a:endParaRPr lang="en-US" sz="1600" dirty="0"/>
          </a:p>
        </p:txBody>
      </p:sp>
      <p:sp>
        <p:nvSpPr>
          <p:cNvPr id="13" name="badge-FaWrench"/>
          <p:cNvSpPr/>
          <p:nvPr/>
        </p:nvSpPr>
        <p:spPr>
          <a:xfrm>
            <a:off x="548640" y="5074920"/>
            <a:ext cx="502920" cy="502920"/>
          </a:xfrm>
          <a:prstGeom prst="ellipse">
            <a:avLst/>
          </a:prstGeom>
          <a:solidFill>
            <a:schemeClr val="accent1"/>
          </a:solidFill>
          <a:ln w="12700">
            <a:solidFill>
              <a:schemeClr val="accent1"/>
            </a:solidFill>
            <a:prstDash val="solid"/>
          </a:ln>
        </p:spPr>
      </p:sp>
      <p:pic>
        <p:nvPicPr>
          <p:cNvPr id="14" name="icon-FaWrench" descr="preencoded.png">    </p:cNvPr>
          <p:cNvPicPr>
            <a:picLocks noChangeAspect="1"/>
          </p:cNvPicPr>
          <p:nvPr/>
        </p:nvPicPr>
        <p:blipFill>
          <a:blip r:embed="rId4"/>
          <a:stretch>
            <a:fillRect/>
          </a:stretch>
        </p:blipFill>
        <p:spPr>
          <a:xfrm>
            <a:off x="669341" y="5195621"/>
            <a:ext cx="261518" cy="261518"/>
          </a:xfrm>
          <a:prstGeom prst="rect">
            <a:avLst/>
          </a:prstGeom>
        </p:spPr>
      </p:pic>
      <p:sp>
        <p:nvSpPr>
          <p:cNvPr id="15" name="Text 9"/>
          <p:cNvSpPr txBox="1"/>
          <p:nvPr/>
        </p:nvSpPr>
        <p:spPr>
          <a:xfrm>
            <a:off x="1280160" y="502920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Repairs block lending</a:t>
            </a:r>
            <a:endParaRPr lang="en-US" sz="1600" dirty="0"/>
          </a:p>
          <a:p>
            <a:pPr indent="0" marL="0">
              <a:buNone/>
            </a:pPr>
            <a:r>
              <a:rPr lang="en-US" sz="1300" dirty="0">
                <a:solidFill>
                  <a:schemeClr val="tx2"/>
                </a:solidFill>
              </a:rPr>
              <a:t>"Needs repair" moves an item to Maintenance</a:t>
            </a:r>
            <a:endParaRPr lang="en-US" sz="1600" dirty="0"/>
          </a:p>
        </p:txBody>
      </p:sp>
      <p:pic>
        <p:nvPicPr>
          <p:cNvPr id="16" name="img-c-loan.png" descr="c-loan.png">    </p:cNvPr>
          <p:cNvPicPr>
            <a:picLocks noChangeAspect="1"/>
          </p:cNvPicPr>
          <p:nvPr/>
        </p:nvPicPr>
        <p:blipFill>
          <a:blip r:embed="rId5"/>
          <a:stretch>
            <a:fillRect/>
          </a:stretch>
        </p:blipFill>
        <p:spPr>
          <a:xfrm>
            <a:off x="6207470" y="1325880"/>
            <a:ext cx="5451130" cy="4892040"/>
          </a:xfrm>
          <a:prstGeom prst="rect">
            <a:avLst/>
          </a:prstGeom>
          <a:effectLst>
            <a:outerShdw sx="100000" sy="100000" kx="0" ky="0" algn="bl" rotWithShape="0" blurRad="127000" dist="38100" dir="5400000">
              <a:srgbClr val="3B2A1E">
                <a:alpha val="22000"/>
              </a:srgbClr>
            </a:outerShdw>
          </a:effectLst>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3" name="stack-Frontend"/>
          <p:cNvSpPr/>
          <p:nvPr/>
        </p:nvSpPr>
        <p:spPr>
          <a:xfrm>
            <a:off x="548640" y="1371600"/>
            <a:ext cx="3515258" cy="1417320"/>
          </a:xfrm>
          <a:prstGeom prst="roundRect">
            <a:avLst>
              <a:gd name="adj" fmla="val 5161"/>
            </a:avLst>
          </a:prstGeom>
          <a:solidFill>
            <a:schemeClr val="bg2"/>
          </a:solidFill>
          <a:ln w="12700">
            <a:solidFill>
              <a:schemeClr val="bg2"/>
            </a:solidFill>
            <a:prstDash val="solid"/>
          </a:ln>
        </p:spPr>
      </p:sp>
      <p:sp>
        <p:nvSpPr>
          <p:cNvPr id="4" name="badge-FaReact"/>
          <p:cNvSpPr/>
          <p:nvPr/>
        </p:nvSpPr>
        <p:spPr>
          <a:xfrm>
            <a:off x="777240" y="1645920"/>
            <a:ext cx="548640" cy="548640"/>
          </a:xfrm>
          <a:prstGeom prst="ellipse">
            <a:avLst/>
          </a:prstGeom>
          <a:solidFill>
            <a:schemeClr val="accent1"/>
          </a:solidFill>
          <a:ln w="12700">
            <a:solidFill>
              <a:schemeClr val="accent1"/>
            </a:solidFill>
            <a:prstDash val="solid"/>
          </a:ln>
        </p:spPr>
      </p:sp>
      <p:pic>
        <p:nvPicPr>
          <p:cNvPr id="5" name="icon-FaReact" descr="preencoded.png">    </p:cNvPr>
          <p:cNvPicPr>
            <a:picLocks noChangeAspect="1"/>
          </p:cNvPicPr>
          <p:nvPr/>
        </p:nvPicPr>
        <p:blipFill>
          <a:blip r:embed="rId1"/>
          <a:stretch>
            <a:fillRect/>
          </a:stretch>
        </p:blipFill>
        <p:spPr>
          <a:xfrm>
            <a:off x="908914" y="1777594"/>
            <a:ext cx="285293" cy="285293"/>
          </a:xfrm>
          <a:prstGeom prst="rect">
            <a:avLst/>
          </a:prstGeom>
        </p:spPr>
      </p:pic>
      <p:sp>
        <p:nvSpPr>
          <p:cNvPr id="6" name="Text 3"/>
          <p:cNvSpPr txBox="1"/>
          <p:nvPr/>
        </p:nvSpPr>
        <p:spPr>
          <a:xfrm>
            <a:off x="1508760" y="160020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Frontend</a:t>
            </a:r>
            <a:endParaRPr lang="en-US" sz="1700" dirty="0"/>
          </a:p>
        </p:txBody>
      </p:sp>
      <p:sp>
        <p:nvSpPr>
          <p:cNvPr id="7" name="Text 4"/>
          <p:cNvSpPr txBox="1"/>
          <p:nvPr/>
        </p:nvSpPr>
        <p:spPr>
          <a:xfrm>
            <a:off x="1508760" y="2011680"/>
            <a:ext cx="2372258" cy="594360"/>
          </a:xfrm>
          <a:prstGeom prst="rect">
            <a:avLst/>
          </a:prstGeom>
          <a:noFill/>
          <a:ln/>
        </p:spPr>
        <p:txBody>
          <a:bodyPr wrap="square" lIns="0" tIns="0" rIns="0" bIns="0" rtlCol="0" anchor="t"/>
          <a:lstStyle/>
          <a:p>
            <a:pPr indent="0" marL="0">
              <a:buNone/>
            </a:pPr>
            <a:r>
              <a:rPr lang="en-US" sz="1300" dirty="0">
                <a:solidFill>
                  <a:schemeClr val="tx2"/>
                </a:solidFill>
              </a:rPr>
              <a:t>React 19 · Vite 8 · plain CSS · vitest</a:t>
            </a:r>
            <a:endParaRPr lang="en-US" sz="1300" dirty="0"/>
          </a:p>
        </p:txBody>
      </p:sp>
      <p:sp>
        <p:nvSpPr>
          <p:cNvPr id="8" name="stack-Backend"/>
          <p:cNvSpPr/>
          <p:nvPr/>
        </p:nvSpPr>
        <p:spPr>
          <a:xfrm>
            <a:off x="4338218" y="1371600"/>
            <a:ext cx="3515258" cy="1417320"/>
          </a:xfrm>
          <a:prstGeom prst="roundRect">
            <a:avLst>
              <a:gd name="adj" fmla="val 5161"/>
            </a:avLst>
          </a:prstGeom>
          <a:solidFill>
            <a:schemeClr val="bg2"/>
          </a:solidFill>
          <a:ln w="12700">
            <a:solidFill>
              <a:schemeClr val="bg2"/>
            </a:solidFill>
            <a:prstDash val="solid"/>
          </a:ln>
        </p:spPr>
      </p:sp>
      <p:sp>
        <p:nvSpPr>
          <p:cNvPr id="9" name="badge-FaPython"/>
          <p:cNvSpPr/>
          <p:nvPr/>
        </p:nvSpPr>
        <p:spPr>
          <a:xfrm>
            <a:off x="4566818" y="1645920"/>
            <a:ext cx="548640" cy="548640"/>
          </a:xfrm>
          <a:prstGeom prst="ellipse">
            <a:avLst/>
          </a:prstGeom>
          <a:solidFill>
            <a:schemeClr val="accent1"/>
          </a:solidFill>
          <a:ln w="12700">
            <a:solidFill>
              <a:schemeClr val="accent1"/>
            </a:solidFill>
            <a:prstDash val="solid"/>
          </a:ln>
        </p:spPr>
      </p:sp>
      <p:pic>
        <p:nvPicPr>
          <p:cNvPr id="10" name="icon-FaPython" descr="preencoded.png">    </p:cNvPr>
          <p:cNvPicPr>
            <a:picLocks noChangeAspect="1"/>
          </p:cNvPicPr>
          <p:nvPr/>
        </p:nvPicPr>
        <p:blipFill>
          <a:blip r:embed="rId2"/>
          <a:stretch>
            <a:fillRect/>
          </a:stretch>
        </p:blipFill>
        <p:spPr>
          <a:xfrm>
            <a:off x="4698492" y="1777594"/>
            <a:ext cx="285293" cy="285293"/>
          </a:xfrm>
          <a:prstGeom prst="rect">
            <a:avLst/>
          </a:prstGeom>
        </p:spPr>
      </p:pic>
      <p:sp>
        <p:nvSpPr>
          <p:cNvPr id="11" name="Text 7"/>
          <p:cNvSpPr txBox="1"/>
          <p:nvPr/>
        </p:nvSpPr>
        <p:spPr>
          <a:xfrm>
            <a:off x="5298338" y="160020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Backend</a:t>
            </a:r>
            <a:endParaRPr lang="en-US" sz="1700" dirty="0"/>
          </a:p>
        </p:txBody>
      </p:sp>
      <p:sp>
        <p:nvSpPr>
          <p:cNvPr id="12" name="Text 8"/>
          <p:cNvSpPr txBox="1"/>
          <p:nvPr/>
        </p:nvSpPr>
        <p:spPr>
          <a:xfrm>
            <a:off x="5298338" y="2011680"/>
            <a:ext cx="2372258" cy="594360"/>
          </a:xfrm>
          <a:prstGeom prst="rect">
            <a:avLst/>
          </a:prstGeom>
          <a:noFill/>
          <a:ln/>
        </p:spPr>
        <p:txBody>
          <a:bodyPr wrap="square" lIns="0" tIns="0" rIns="0" bIns="0" rtlCol="0" anchor="t"/>
          <a:lstStyle/>
          <a:p>
            <a:pPr indent="0" marL="0">
              <a:buNone/>
            </a:pPr>
            <a:r>
              <a:rPr lang="en-US" sz="1300" dirty="0">
                <a:solidFill>
                  <a:schemeClr val="tx2"/>
                </a:solidFill>
              </a:rPr>
              <a:t>FastAPI · SQLAlchemy 2 · Pydantic · Alembic</a:t>
            </a:r>
            <a:endParaRPr lang="en-US" sz="1300" dirty="0"/>
          </a:p>
        </p:txBody>
      </p:sp>
      <p:sp>
        <p:nvSpPr>
          <p:cNvPr id="13" name="stack-Database"/>
          <p:cNvSpPr/>
          <p:nvPr/>
        </p:nvSpPr>
        <p:spPr>
          <a:xfrm>
            <a:off x="8127797" y="1371600"/>
            <a:ext cx="3515258" cy="1417320"/>
          </a:xfrm>
          <a:prstGeom prst="roundRect">
            <a:avLst>
              <a:gd name="adj" fmla="val 5161"/>
            </a:avLst>
          </a:prstGeom>
          <a:solidFill>
            <a:schemeClr val="bg2"/>
          </a:solidFill>
          <a:ln w="12700">
            <a:solidFill>
              <a:schemeClr val="bg2"/>
            </a:solidFill>
            <a:prstDash val="solid"/>
          </a:ln>
        </p:spPr>
      </p:sp>
      <p:sp>
        <p:nvSpPr>
          <p:cNvPr id="14" name="badge-FaDatabase"/>
          <p:cNvSpPr/>
          <p:nvPr/>
        </p:nvSpPr>
        <p:spPr>
          <a:xfrm>
            <a:off x="8356397" y="1645920"/>
            <a:ext cx="548640" cy="548640"/>
          </a:xfrm>
          <a:prstGeom prst="ellipse">
            <a:avLst/>
          </a:prstGeom>
          <a:solidFill>
            <a:schemeClr val="accent1"/>
          </a:solidFill>
          <a:ln w="12700">
            <a:solidFill>
              <a:schemeClr val="accent1"/>
            </a:solidFill>
            <a:prstDash val="solid"/>
          </a:ln>
        </p:spPr>
      </p:sp>
      <p:pic>
        <p:nvPicPr>
          <p:cNvPr id="15" name="icon-FaDatabase" descr="preencoded.png">    </p:cNvPr>
          <p:cNvPicPr>
            <a:picLocks noChangeAspect="1"/>
          </p:cNvPicPr>
          <p:nvPr/>
        </p:nvPicPr>
        <p:blipFill>
          <a:blip r:embed="rId3"/>
          <a:stretch>
            <a:fillRect/>
          </a:stretch>
        </p:blipFill>
        <p:spPr>
          <a:xfrm>
            <a:off x="8488070" y="1777594"/>
            <a:ext cx="285293" cy="285293"/>
          </a:xfrm>
          <a:prstGeom prst="rect">
            <a:avLst/>
          </a:prstGeom>
        </p:spPr>
      </p:pic>
      <p:sp>
        <p:nvSpPr>
          <p:cNvPr id="16" name="Text 11"/>
          <p:cNvSpPr txBox="1"/>
          <p:nvPr/>
        </p:nvSpPr>
        <p:spPr>
          <a:xfrm>
            <a:off x="9087917" y="160020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Database</a:t>
            </a:r>
            <a:endParaRPr lang="en-US" sz="1700" dirty="0"/>
          </a:p>
        </p:txBody>
      </p:sp>
      <p:sp>
        <p:nvSpPr>
          <p:cNvPr id="17" name="Text 12"/>
          <p:cNvSpPr txBox="1"/>
          <p:nvPr/>
        </p:nvSpPr>
        <p:spPr>
          <a:xfrm>
            <a:off x="9087917" y="2011680"/>
            <a:ext cx="2372258" cy="594360"/>
          </a:xfrm>
          <a:prstGeom prst="rect">
            <a:avLst/>
          </a:prstGeom>
          <a:noFill/>
          <a:ln/>
        </p:spPr>
        <p:txBody>
          <a:bodyPr wrap="square" lIns="0" tIns="0" rIns="0" bIns="0" rtlCol="0" anchor="t"/>
          <a:lstStyle/>
          <a:p>
            <a:pPr indent="0" marL="0">
              <a:buNone/>
            </a:pPr>
            <a:r>
              <a:rPr lang="en-US" sz="1300" dirty="0">
                <a:solidFill>
                  <a:schemeClr val="tx2"/>
                </a:solidFill>
              </a:rPr>
              <a:t>PostgreSQL 17 (StatefulSet + PVC)</a:t>
            </a:r>
            <a:endParaRPr lang="en-US" sz="1300" dirty="0"/>
          </a:p>
        </p:txBody>
      </p:sp>
      <p:sp>
        <p:nvSpPr>
          <p:cNvPr id="18" name="stack-Containers"/>
          <p:cNvSpPr/>
          <p:nvPr/>
        </p:nvSpPr>
        <p:spPr>
          <a:xfrm>
            <a:off x="548640" y="3017520"/>
            <a:ext cx="3515258" cy="1417320"/>
          </a:xfrm>
          <a:prstGeom prst="roundRect">
            <a:avLst>
              <a:gd name="adj" fmla="val 5161"/>
            </a:avLst>
          </a:prstGeom>
          <a:solidFill>
            <a:schemeClr val="bg2"/>
          </a:solidFill>
          <a:ln w="12700">
            <a:solidFill>
              <a:schemeClr val="bg2"/>
            </a:solidFill>
            <a:prstDash val="solid"/>
          </a:ln>
        </p:spPr>
      </p:sp>
      <p:sp>
        <p:nvSpPr>
          <p:cNvPr id="19" name="badge-FaDocker"/>
          <p:cNvSpPr/>
          <p:nvPr/>
        </p:nvSpPr>
        <p:spPr>
          <a:xfrm>
            <a:off x="777240" y="3291840"/>
            <a:ext cx="548640" cy="548640"/>
          </a:xfrm>
          <a:prstGeom prst="ellipse">
            <a:avLst/>
          </a:prstGeom>
          <a:solidFill>
            <a:schemeClr val="accent1"/>
          </a:solidFill>
          <a:ln w="12700">
            <a:solidFill>
              <a:schemeClr val="accent1"/>
            </a:solidFill>
            <a:prstDash val="solid"/>
          </a:ln>
        </p:spPr>
      </p:sp>
      <p:pic>
        <p:nvPicPr>
          <p:cNvPr id="20" name="icon-FaDocker" descr="preencoded.png">    </p:cNvPr>
          <p:cNvPicPr>
            <a:picLocks noChangeAspect="1"/>
          </p:cNvPicPr>
          <p:nvPr/>
        </p:nvPicPr>
        <p:blipFill>
          <a:blip r:embed="rId4"/>
          <a:stretch>
            <a:fillRect/>
          </a:stretch>
        </p:blipFill>
        <p:spPr>
          <a:xfrm>
            <a:off x="908914" y="3423514"/>
            <a:ext cx="285293" cy="285293"/>
          </a:xfrm>
          <a:prstGeom prst="rect">
            <a:avLst/>
          </a:prstGeom>
        </p:spPr>
      </p:pic>
      <p:sp>
        <p:nvSpPr>
          <p:cNvPr id="21" name="Text 15"/>
          <p:cNvSpPr txBox="1"/>
          <p:nvPr/>
        </p:nvSpPr>
        <p:spPr>
          <a:xfrm>
            <a:off x="1508760" y="324612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Containers</a:t>
            </a:r>
            <a:endParaRPr lang="en-US" sz="1700" dirty="0"/>
          </a:p>
        </p:txBody>
      </p:sp>
      <p:sp>
        <p:nvSpPr>
          <p:cNvPr id="22" name="Text 16"/>
          <p:cNvSpPr txBox="1"/>
          <p:nvPr/>
        </p:nvSpPr>
        <p:spPr>
          <a:xfrm>
            <a:off x="1508760" y="3657600"/>
            <a:ext cx="2372258" cy="594360"/>
          </a:xfrm>
          <a:prstGeom prst="rect">
            <a:avLst/>
          </a:prstGeom>
          <a:noFill/>
          <a:ln/>
        </p:spPr>
        <p:txBody>
          <a:bodyPr wrap="square" lIns="0" tIns="0" rIns="0" bIns="0" rtlCol="0" anchor="t"/>
          <a:lstStyle/>
          <a:p>
            <a:pPr indent="0" marL="0">
              <a:buNone/>
            </a:pPr>
            <a:r>
              <a:rPr lang="en-US" sz="1300" dirty="0">
                <a:solidFill>
                  <a:schemeClr val="tx2"/>
                </a:solidFill>
              </a:rPr>
              <a:t>multi-stage Docker · Compose · GHCR</a:t>
            </a:r>
            <a:endParaRPr lang="en-US" sz="1300" dirty="0"/>
          </a:p>
        </p:txBody>
      </p:sp>
      <p:sp>
        <p:nvSpPr>
          <p:cNvPr id="23" name="stack-CI/CD"/>
          <p:cNvSpPr/>
          <p:nvPr/>
        </p:nvSpPr>
        <p:spPr>
          <a:xfrm>
            <a:off x="4338218" y="3017520"/>
            <a:ext cx="3515258" cy="1417320"/>
          </a:xfrm>
          <a:prstGeom prst="roundRect">
            <a:avLst>
              <a:gd name="adj" fmla="val 5161"/>
            </a:avLst>
          </a:prstGeom>
          <a:solidFill>
            <a:schemeClr val="bg2"/>
          </a:solidFill>
          <a:ln w="12700">
            <a:solidFill>
              <a:schemeClr val="bg2"/>
            </a:solidFill>
            <a:prstDash val="solid"/>
          </a:ln>
        </p:spPr>
      </p:sp>
      <p:sp>
        <p:nvSpPr>
          <p:cNvPr id="24" name="badge-FaGithub"/>
          <p:cNvSpPr/>
          <p:nvPr/>
        </p:nvSpPr>
        <p:spPr>
          <a:xfrm>
            <a:off x="4566818" y="3291840"/>
            <a:ext cx="548640" cy="548640"/>
          </a:xfrm>
          <a:prstGeom prst="ellipse">
            <a:avLst/>
          </a:prstGeom>
          <a:solidFill>
            <a:schemeClr val="accent1"/>
          </a:solidFill>
          <a:ln w="12700">
            <a:solidFill>
              <a:schemeClr val="accent1"/>
            </a:solidFill>
            <a:prstDash val="solid"/>
          </a:ln>
        </p:spPr>
      </p:sp>
      <p:pic>
        <p:nvPicPr>
          <p:cNvPr id="25" name="icon-FaGithub" descr="preencoded.png">    </p:cNvPr>
          <p:cNvPicPr>
            <a:picLocks noChangeAspect="1"/>
          </p:cNvPicPr>
          <p:nvPr/>
        </p:nvPicPr>
        <p:blipFill>
          <a:blip r:embed="rId5"/>
          <a:stretch>
            <a:fillRect/>
          </a:stretch>
        </p:blipFill>
        <p:spPr>
          <a:xfrm>
            <a:off x="4698492" y="3423514"/>
            <a:ext cx="285293" cy="285293"/>
          </a:xfrm>
          <a:prstGeom prst="rect">
            <a:avLst/>
          </a:prstGeom>
        </p:spPr>
      </p:pic>
      <p:sp>
        <p:nvSpPr>
          <p:cNvPr id="26" name="Text 19"/>
          <p:cNvSpPr txBox="1"/>
          <p:nvPr/>
        </p:nvSpPr>
        <p:spPr>
          <a:xfrm>
            <a:off x="5298338" y="324612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CI/CD</a:t>
            </a:r>
            <a:endParaRPr lang="en-US" sz="1700" dirty="0"/>
          </a:p>
        </p:txBody>
      </p:sp>
      <p:sp>
        <p:nvSpPr>
          <p:cNvPr id="27" name="Text 20"/>
          <p:cNvSpPr txBox="1"/>
          <p:nvPr/>
        </p:nvSpPr>
        <p:spPr>
          <a:xfrm>
            <a:off x="5298338" y="3657600"/>
            <a:ext cx="2372258" cy="594360"/>
          </a:xfrm>
          <a:prstGeom prst="rect">
            <a:avLst/>
          </a:prstGeom>
          <a:noFill/>
          <a:ln/>
        </p:spPr>
        <p:txBody>
          <a:bodyPr wrap="square" lIns="0" tIns="0" rIns="0" bIns="0" rtlCol="0" anchor="t"/>
          <a:lstStyle/>
          <a:p>
            <a:pPr indent="0" marL="0">
              <a:buNone/>
            </a:pPr>
            <a:r>
              <a:rPr lang="en-US" sz="1300" dirty="0">
                <a:solidFill>
                  <a:schemeClr val="tx2"/>
                </a:solidFill>
              </a:rPr>
              <a:t>GitHub Actions · Trivy · Argo CD (GitOps)</a:t>
            </a:r>
            <a:endParaRPr lang="en-US" sz="1300" dirty="0"/>
          </a:p>
        </p:txBody>
      </p:sp>
      <p:sp>
        <p:nvSpPr>
          <p:cNvPr id="28" name="stack-Infrastructure as Code"/>
          <p:cNvSpPr/>
          <p:nvPr/>
        </p:nvSpPr>
        <p:spPr>
          <a:xfrm>
            <a:off x="8127797" y="3017520"/>
            <a:ext cx="3515258" cy="1417320"/>
          </a:xfrm>
          <a:prstGeom prst="roundRect">
            <a:avLst>
              <a:gd name="adj" fmla="val 5161"/>
            </a:avLst>
          </a:prstGeom>
          <a:solidFill>
            <a:schemeClr val="bg2"/>
          </a:solidFill>
          <a:ln w="12700">
            <a:solidFill>
              <a:schemeClr val="bg2"/>
            </a:solidFill>
            <a:prstDash val="solid"/>
          </a:ln>
        </p:spPr>
      </p:sp>
      <p:sp>
        <p:nvSpPr>
          <p:cNvPr id="29" name="badge-FaCubes"/>
          <p:cNvSpPr/>
          <p:nvPr/>
        </p:nvSpPr>
        <p:spPr>
          <a:xfrm>
            <a:off x="8356397" y="3291840"/>
            <a:ext cx="548640" cy="548640"/>
          </a:xfrm>
          <a:prstGeom prst="ellipse">
            <a:avLst/>
          </a:prstGeom>
          <a:solidFill>
            <a:schemeClr val="accent1"/>
          </a:solidFill>
          <a:ln w="12700">
            <a:solidFill>
              <a:schemeClr val="accent1"/>
            </a:solidFill>
            <a:prstDash val="solid"/>
          </a:ln>
        </p:spPr>
      </p:sp>
      <p:pic>
        <p:nvPicPr>
          <p:cNvPr id="30" name="icon-FaCubes" descr="preencoded.png">    </p:cNvPr>
          <p:cNvPicPr>
            <a:picLocks noChangeAspect="1"/>
          </p:cNvPicPr>
          <p:nvPr/>
        </p:nvPicPr>
        <p:blipFill>
          <a:blip r:embed="rId6"/>
          <a:stretch>
            <a:fillRect/>
          </a:stretch>
        </p:blipFill>
        <p:spPr>
          <a:xfrm>
            <a:off x="8488070" y="3423514"/>
            <a:ext cx="285293" cy="285293"/>
          </a:xfrm>
          <a:prstGeom prst="rect">
            <a:avLst/>
          </a:prstGeom>
        </p:spPr>
      </p:pic>
      <p:sp>
        <p:nvSpPr>
          <p:cNvPr id="31" name="Text 23"/>
          <p:cNvSpPr txBox="1"/>
          <p:nvPr/>
        </p:nvSpPr>
        <p:spPr>
          <a:xfrm>
            <a:off x="9087917" y="324612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Infrastructure as Code</a:t>
            </a:r>
            <a:endParaRPr lang="en-US" sz="1700" dirty="0"/>
          </a:p>
        </p:txBody>
      </p:sp>
      <p:sp>
        <p:nvSpPr>
          <p:cNvPr id="32" name="Text 24"/>
          <p:cNvSpPr txBox="1"/>
          <p:nvPr/>
        </p:nvSpPr>
        <p:spPr>
          <a:xfrm>
            <a:off x="9087917" y="3657600"/>
            <a:ext cx="2372258" cy="594360"/>
          </a:xfrm>
          <a:prstGeom prst="rect">
            <a:avLst/>
          </a:prstGeom>
          <a:noFill/>
          <a:ln/>
        </p:spPr>
        <p:txBody>
          <a:bodyPr wrap="square" lIns="0" tIns="0" rIns="0" bIns="0" rtlCol="0" anchor="t"/>
          <a:lstStyle/>
          <a:p>
            <a:pPr indent="0" marL="0">
              <a:buNone/>
            </a:pPr>
            <a:r>
              <a:rPr lang="en-US" sz="1300" dirty="0">
                <a:solidFill>
                  <a:schemeClr val="tx2"/>
                </a:solidFill>
              </a:rPr>
              <a:t>Terraform: kubernetes · helm · random</a:t>
            </a:r>
            <a:endParaRPr lang="en-US" sz="1300" dirty="0"/>
          </a:p>
        </p:txBody>
      </p:sp>
      <p:sp>
        <p:nvSpPr>
          <p:cNvPr id="33" name="stack-Kubernetes"/>
          <p:cNvSpPr/>
          <p:nvPr/>
        </p:nvSpPr>
        <p:spPr>
          <a:xfrm>
            <a:off x="548640" y="4663440"/>
            <a:ext cx="3515258" cy="1417320"/>
          </a:xfrm>
          <a:prstGeom prst="roundRect">
            <a:avLst>
              <a:gd name="adj" fmla="val 5161"/>
            </a:avLst>
          </a:prstGeom>
          <a:solidFill>
            <a:schemeClr val="bg2"/>
          </a:solidFill>
          <a:ln w="12700">
            <a:solidFill>
              <a:schemeClr val="bg2"/>
            </a:solidFill>
            <a:prstDash val="solid"/>
          </a:ln>
        </p:spPr>
      </p:sp>
      <p:sp>
        <p:nvSpPr>
          <p:cNvPr id="34" name="badge-FaDharmachakra"/>
          <p:cNvSpPr/>
          <p:nvPr/>
        </p:nvSpPr>
        <p:spPr>
          <a:xfrm>
            <a:off x="777240" y="4937760"/>
            <a:ext cx="548640" cy="548640"/>
          </a:xfrm>
          <a:prstGeom prst="ellipse">
            <a:avLst/>
          </a:prstGeom>
          <a:solidFill>
            <a:schemeClr val="accent1"/>
          </a:solidFill>
          <a:ln w="12700">
            <a:solidFill>
              <a:schemeClr val="accent1"/>
            </a:solidFill>
            <a:prstDash val="solid"/>
          </a:ln>
        </p:spPr>
      </p:sp>
      <p:pic>
        <p:nvPicPr>
          <p:cNvPr id="35" name="icon-FaDharmachakra" descr="preencoded.png">    </p:cNvPr>
          <p:cNvPicPr>
            <a:picLocks noChangeAspect="1"/>
          </p:cNvPicPr>
          <p:nvPr/>
        </p:nvPicPr>
        <p:blipFill>
          <a:blip r:embed="rId7"/>
          <a:stretch>
            <a:fillRect/>
          </a:stretch>
        </p:blipFill>
        <p:spPr>
          <a:xfrm>
            <a:off x="908914" y="5069434"/>
            <a:ext cx="285293" cy="285293"/>
          </a:xfrm>
          <a:prstGeom prst="rect">
            <a:avLst/>
          </a:prstGeom>
        </p:spPr>
      </p:pic>
      <p:sp>
        <p:nvSpPr>
          <p:cNvPr id="36" name="Text 27"/>
          <p:cNvSpPr txBox="1"/>
          <p:nvPr/>
        </p:nvSpPr>
        <p:spPr>
          <a:xfrm>
            <a:off x="1508760" y="489204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Kubernetes</a:t>
            </a:r>
            <a:endParaRPr lang="en-US" sz="1700" dirty="0"/>
          </a:p>
        </p:txBody>
      </p:sp>
      <p:sp>
        <p:nvSpPr>
          <p:cNvPr id="37" name="Text 28"/>
          <p:cNvSpPr txBox="1"/>
          <p:nvPr/>
        </p:nvSpPr>
        <p:spPr>
          <a:xfrm>
            <a:off x="1508760" y="5303520"/>
            <a:ext cx="2372258" cy="594360"/>
          </a:xfrm>
          <a:prstGeom prst="rect">
            <a:avLst/>
          </a:prstGeom>
          <a:noFill/>
          <a:ln/>
        </p:spPr>
        <p:txBody>
          <a:bodyPr wrap="square" lIns="0" tIns="0" rIns="0" bIns="0" rtlCol="0" anchor="t"/>
          <a:lstStyle/>
          <a:p>
            <a:pPr indent="0" marL="0">
              <a:buNone/>
            </a:pPr>
            <a:r>
              <a:rPr lang="en-US" sz="1300" dirty="0">
                <a:solidFill>
                  <a:schemeClr val="tx2"/>
                </a:solidFill>
              </a:rPr>
              <a:t>minikube · Helm · ingress-nginx · HPA</a:t>
            </a:r>
            <a:endParaRPr lang="en-US" sz="1300" dirty="0"/>
          </a:p>
        </p:txBody>
      </p:sp>
      <p:sp>
        <p:nvSpPr>
          <p:cNvPr id="38" name="stack-Observability"/>
          <p:cNvSpPr/>
          <p:nvPr/>
        </p:nvSpPr>
        <p:spPr>
          <a:xfrm>
            <a:off x="4338218" y="4663440"/>
            <a:ext cx="3515258" cy="1417320"/>
          </a:xfrm>
          <a:prstGeom prst="roundRect">
            <a:avLst>
              <a:gd name="adj" fmla="val 5161"/>
            </a:avLst>
          </a:prstGeom>
          <a:solidFill>
            <a:schemeClr val="bg2"/>
          </a:solidFill>
          <a:ln w="12700">
            <a:solidFill>
              <a:schemeClr val="bg2"/>
            </a:solidFill>
            <a:prstDash val="solid"/>
          </a:ln>
        </p:spPr>
      </p:sp>
      <p:sp>
        <p:nvSpPr>
          <p:cNvPr id="39" name="badge-FaChartLine"/>
          <p:cNvSpPr/>
          <p:nvPr/>
        </p:nvSpPr>
        <p:spPr>
          <a:xfrm>
            <a:off x="4566818" y="4937760"/>
            <a:ext cx="548640" cy="548640"/>
          </a:xfrm>
          <a:prstGeom prst="ellipse">
            <a:avLst/>
          </a:prstGeom>
          <a:solidFill>
            <a:schemeClr val="accent1"/>
          </a:solidFill>
          <a:ln w="12700">
            <a:solidFill>
              <a:schemeClr val="accent1"/>
            </a:solidFill>
            <a:prstDash val="solid"/>
          </a:ln>
        </p:spPr>
      </p:sp>
      <p:pic>
        <p:nvPicPr>
          <p:cNvPr id="40" name="icon-FaChartLine" descr="preencoded.png">    </p:cNvPr>
          <p:cNvPicPr>
            <a:picLocks noChangeAspect="1"/>
          </p:cNvPicPr>
          <p:nvPr/>
        </p:nvPicPr>
        <p:blipFill>
          <a:blip r:embed="rId8"/>
          <a:stretch>
            <a:fillRect/>
          </a:stretch>
        </p:blipFill>
        <p:spPr>
          <a:xfrm>
            <a:off x="4698492" y="5069434"/>
            <a:ext cx="285293" cy="285293"/>
          </a:xfrm>
          <a:prstGeom prst="rect">
            <a:avLst/>
          </a:prstGeom>
        </p:spPr>
      </p:pic>
      <p:sp>
        <p:nvSpPr>
          <p:cNvPr id="41" name="Text 31"/>
          <p:cNvSpPr txBox="1"/>
          <p:nvPr/>
        </p:nvSpPr>
        <p:spPr>
          <a:xfrm>
            <a:off x="5298338" y="489204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Observability</a:t>
            </a:r>
            <a:endParaRPr lang="en-US" sz="1700" dirty="0"/>
          </a:p>
        </p:txBody>
      </p:sp>
      <p:sp>
        <p:nvSpPr>
          <p:cNvPr id="42" name="Text 32"/>
          <p:cNvSpPr txBox="1"/>
          <p:nvPr/>
        </p:nvSpPr>
        <p:spPr>
          <a:xfrm>
            <a:off x="5298338" y="5303520"/>
            <a:ext cx="2372258" cy="594360"/>
          </a:xfrm>
          <a:prstGeom prst="rect">
            <a:avLst/>
          </a:prstGeom>
          <a:noFill/>
          <a:ln/>
        </p:spPr>
        <p:txBody>
          <a:bodyPr wrap="square" lIns="0" tIns="0" rIns="0" bIns="0" rtlCol="0" anchor="t"/>
          <a:lstStyle/>
          <a:p>
            <a:pPr indent="0" marL="0">
              <a:buNone/>
            </a:pPr>
            <a:r>
              <a:rPr lang="en-US" sz="1300" dirty="0">
                <a:solidFill>
                  <a:schemeClr val="tx2"/>
                </a:solidFill>
              </a:rPr>
              <a:t>Prometheus · Grafana · Alertmanager</a:t>
            </a:r>
            <a:endParaRPr lang="en-US" sz="1300" dirty="0"/>
          </a:p>
        </p:txBody>
      </p:sp>
      <p:sp>
        <p:nvSpPr>
          <p:cNvPr id="43" name="stack-Quality gates"/>
          <p:cNvSpPr/>
          <p:nvPr/>
        </p:nvSpPr>
        <p:spPr>
          <a:xfrm>
            <a:off x="8127797" y="4663440"/>
            <a:ext cx="3515258" cy="1417320"/>
          </a:xfrm>
          <a:prstGeom prst="roundRect">
            <a:avLst>
              <a:gd name="adj" fmla="val 5161"/>
            </a:avLst>
          </a:prstGeom>
          <a:solidFill>
            <a:schemeClr val="bg2"/>
          </a:solidFill>
          <a:ln w="12700">
            <a:solidFill>
              <a:schemeClr val="bg2"/>
            </a:solidFill>
            <a:prstDash val="solid"/>
          </a:ln>
        </p:spPr>
      </p:sp>
      <p:sp>
        <p:nvSpPr>
          <p:cNvPr id="44" name="badge-FaFlask"/>
          <p:cNvSpPr/>
          <p:nvPr/>
        </p:nvSpPr>
        <p:spPr>
          <a:xfrm>
            <a:off x="8356397" y="4937760"/>
            <a:ext cx="548640" cy="548640"/>
          </a:xfrm>
          <a:prstGeom prst="ellipse">
            <a:avLst/>
          </a:prstGeom>
          <a:solidFill>
            <a:schemeClr val="accent1"/>
          </a:solidFill>
          <a:ln w="12700">
            <a:solidFill>
              <a:schemeClr val="accent1"/>
            </a:solidFill>
            <a:prstDash val="solid"/>
          </a:ln>
        </p:spPr>
      </p:sp>
      <p:pic>
        <p:nvPicPr>
          <p:cNvPr id="45" name="icon-FaFlask" descr="preencoded.png">    </p:cNvPr>
          <p:cNvPicPr>
            <a:picLocks noChangeAspect="1"/>
          </p:cNvPicPr>
          <p:nvPr/>
        </p:nvPicPr>
        <p:blipFill>
          <a:blip r:embed="rId9"/>
          <a:stretch>
            <a:fillRect/>
          </a:stretch>
        </p:blipFill>
        <p:spPr>
          <a:xfrm>
            <a:off x="8488070" y="5069434"/>
            <a:ext cx="285293" cy="285293"/>
          </a:xfrm>
          <a:prstGeom prst="rect">
            <a:avLst/>
          </a:prstGeom>
        </p:spPr>
      </p:pic>
      <p:sp>
        <p:nvSpPr>
          <p:cNvPr id="46" name="Text 35"/>
          <p:cNvSpPr txBox="1"/>
          <p:nvPr/>
        </p:nvSpPr>
        <p:spPr>
          <a:xfrm>
            <a:off x="9087917" y="4892040"/>
            <a:ext cx="2372258" cy="365760"/>
          </a:xfrm>
          <a:prstGeom prst="rect">
            <a:avLst/>
          </a:prstGeom>
          <a:noFill/>
          <a:ln/>
        </p:spPr>
        <p:txBody>
          <a:bodyPr wrap="square" lIns="0" tIns="0" rIns="0" bIns="0" rtlCol="0" anchor="ctr"/>
          <a:lstStyle/>
          <a:p>
            <a:pPr indent="0" marL="0">
              <a:buNone/>
            </a:pPr>
            <a:r>
              <a:rPr lang="en-US" sz="1700" b="1" dirty="0">
                <a:solidFill>
                  <a:schemeClr val="tx1"/>
                </a:solidFill>
              </a:rPr>
              <a:t>Quality gates</a:t>
            </a:r>
            <a:endParaRPr lang="en-US" sz="1700" dirty="0"/>
          </a:p>
        </p:txBody>
      </p:sp>
      <p:sp>
        <p:nvSpPr>
          <p:cNvPr id="47" name="Text 36"/>
          <p:cNvSpPr txBox="1"/>
          <p:nvPr/>
        </p:nvSpPr>
        <p:spPr>
          <a:xfrm>
            <a:off x="9087917" y="5303520"/>
            <a:ext cx="2372258" cy="594360"/>
          </a:xfrm>
          <a:prstGeom prst="rect">
            <a:avLst/>
          </a:prstGeom>
          <a:noFill/>
          <a:ln/>
        </p:spPr>
        <p:txBody>
          <a:bodyPr wrap="square" lIns="0" tIns="0" rIns="0" bIns="0" rtlCol="0" anchor="t"/>
          <a:lstStyle/>
          <a:p>
            <a:pPr indent="0" marL="0">
              <a:buNone/>
            </a:pPr>
            <a:r>
              <a:rPr lang="en-US" sz="1300" dirty="0">
                <a:solidFill>
                  <a:schemeClr val="tx2"/>
                </a:solidFill>
              </a:rPr>
              <a:t>pytest · ruff · alembic check · actionlint</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 laptop to monitored cluster</a:t>
            </a:r>
            <a:endParaRPr lang="en-US" sz="3400" dirty="0"/>
          </a:p>
        </p:txBody>
      </p:sp>
      <p:sp>
        <p:nvSpPr>
          <p:cNvPr id="3" name="box-Developer"/>
          <p:cNvSpPr/>
          <p:nvPr/>
        </p:nvSpPr>
        <p:spPr>
          <a:xfrm>
            <a:off x="548640" y="1325880"/>
            <a:ext cx="1828800" cy="777240"/>
          </a:xfrm>
          <a:prstGeom prst="roundRect">
            <a:avLst>
              <a:gd name="adj" fmla="val 9412"/>
            </a:avLst>
          </a:prstGeom>
          <a:solidFill>
            <a:schemeClr val="bg2"/>
          </a:solidFill>
          <a:ln w="12700">
            <a:solidFill>
              <a:schemeClr val="bg2"/>
            </a:solidFill>
            <a:prstDash val="solid"/>
          </a:ln>
        </p:spPr>
      </p:sp>
      <p:sp>
        <p:nvSpPr>
          <p:cNvPr id="4" name="Text 2"/>
          <p:cNvSpPr txBox="1"/>
          <p:nvPr/>
        </p:nvSpPr>
        <p:spPr>
          <a:xfrm>
            <a:off x="548640" y="1325880"/>
            <a:ext cx="182880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Developer</a:t>
            </a:r>
            <a:endParaRPr lang="en-US" sz="1400" dirty="0"/>
          </a:p>
          <a:p>
            <a:pPr algn="ctr" indent="0" marL="0">
              <a:buNone/>
            </a:pPr>
            <a:r>
              <a:rPr lang="en-US" sz="1100" dirty="0">
                <a:solidFill>
                  <a:schemeClr val="tx2"/>
                </a:solidFill>
              </a:rPr>
              <a:t>git push</a:t>
            </a:r>
            <a:endParaRPr lang="en-US" sz="1400" dirty="0"/>
          </a:p>
        </p:txBody>
      </p:sp>
      <p:sp>
        <p:nvSpPr>
          <p:cNvPr id="5" name="box-GitHub Actions"/>
          <p:cNvSpPr/>
          <p:nvPr/>
        </p:nvSpPr>
        <p:spPr>
          <a:xfrm>
            <a:off x="3017520" y="1325880"/>
            <a:ext cx="3291840" cy="777240"/>
          </a:xfrm>
          <a:prstGeom prst="roundRect">
            <a:avLst>
              <a:gd name="adj" fmla="val 9412"/>
            </a:avLst>
          </a:prstGeom>
          <a:solidFill>
            <a:schemeClr val="bg2"/>
          </a:solidFill>
          <a:ln w="12700">
            <a:solidFill>
              <a:schemeClr val="bg2"/>
            </a:solidFill>
            <a:prstDash val="solid"/>
          </a:ln>
        </p:spPr>
      </p:sp>
      <p:sp>
        <p:nvSpPr>
          <p:cNvPr id="6" name="Text 4"/>
          <p:cNvSpPr txBox="1"/>
          <p:nvPr/>
        </p:nvSpPr>
        <p:spPr>
          <a:xfrm>
            <a:off x="3017520" y="1325880"/>
            <a:ext cx="329184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GitHub Actions</a:t>
            </a:r>
            <a:endParaRPr lang="en-US" sz="1400" dirty="0"/>
          </a:p>
          <a:p>
            <a:pPr algn="ctr" indent="0" marL="0">
              <a:buNone/>
            </a:pPr>
            <a:r>
              <a:rPr lang="en-US" sz="1100" dirty="0">
                <a:solidFill>
                  <a:schemeClr val="tx2"/>
                </a:solidFill>
              </a:rPr>
              <a:t>ruff · pytest · vitest · helm lint · tf validate · Trivy</a:t>
            </a:r>
            <a:endParaRPr lang="en-US" sz="1400" dirty="0"/>
          </a:p>
        </p:txBody>
      </p:sp>
      <p:sp>
        <p:nvSpPr>
          <p:cNvPr id="7" name="box-GHCR + Git"/>
          <p:cNvSpPr/>
          <p:nvPr/>
        </p:nvSpPr>
        <p:spPr>
          <a:xfrm>
            <a:off x="6949440" y="1325880"/>
            <a:ext cx="2194560" cy="777240"/>
          </a:xfrm>
          <a:prstGeom prst="roundRect">
            <a:avLst>
              <a:gd name="adj" fmla="val 9412"/>
            </a:avLst>
          </a:prstGeom>
          <a:solidFill>
            <a:schemeClr val="bg2"/>
          </a:solidFill>
          <a:ln w="12700">
            <a:solidFill>
              <a:schemeClr val="bg2"/>
            </a:solidFill>
            <a:prstDash val="solid"/>
          </a:ln>
        </p:spPr>
      </p:sp>
      <p:sp>
        <p:nvSpPr>
          <p:cNvPr id="8" name="Text 6"/>
          <p:cNvSpPr txBox="1"/>
          <p:nvPr/>
        </p:nvSpPr>
        <p:spPr>
          <a:xfrm>
            <a:off x="6949440" y="1325880"/>
            <a:ext cx="2194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GHCR + Git</a:t>
            </a:r>
            <a:endParaRPr lang="en-US" sz="1400" dirty="0"/>
          </a:p>
          <a:p>
            <a:pPr algn="ctr" indent="0" marL="0">
              <a:buNone/>
            </a:pPr>
            <a:r>
              <a:rPr lang="en-US" sz="1100" dirty="0">
                <a:solidFill>
                  <a:schemeClr val="tx2"/>
                </a:solidFill>
              </a:rPr>
              <a:t>images :&lt;sha&gt; · tag bump commit</a:t>
            </a:r>
            <a:endParaRPr lang="en-US" sz="1400" dirty="0"/>
          </a:p>
        </p:txBody>
      </p:sp>
      <p:sp>
        <p:nvSpPr>
          <p:cNvPr id="9" name="box-Terraform"/>
          <p:cNvSpPr/>
          <p:nvPr/>
        </p:nvSpPr>
        <p:spPr>
          <a:xfrm>
            <a:off x="9692640" y="1325880"/>
            <a:ext cx="1947672" cy="777240"/>
          </a:xfrm>
          <a:prstGeom prst="roundRect">
            <a:avLst>
              <a:gd name="adj" fmla="val 9412"/>
            </a:avLst>
          </a:prstGeom>
          <a:solidFill>
            <a:schemeClr val="bg1"/>
          </a:solidFill>
          <a:ln w="12700">
            <a:solidFill>
              <a:schemeClr val="accent6"/>
            </a:solidFill>
            <a:prstDash val="solid"/>
          </a:ln>
        </p:spPr>
      </p:sp>
      <p:sp>
        <p:nvSpPr>
          <p:cNvPr id="10" name="Text 8"/>
          <p:cNvSpPr txBox="1"/>
          <p:nvPr/>
        </p:nvSpPr>
        <p:spPr>
          <a:xfrm>
            <a:off x="9692640" y="1325880"/>
            <a:ext cx="1947672"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Terraform</a:t>
            </a:r>
            <a:endParaRPr lang="en-US" sz="1400" dirty="0"/>
          </a:p>
          <a:p>
            <a:pPr algn="ctr" indent="0" marL="0">
              <a:buNone/>
            </a:pPr>
            <a:r>
              <a:rPr lang="en-US" sz="1100" dirty="0">
                <a:solidFill>
                  <a:schemeClr val="tx2"/>
                </a:solidFill>
              </a:rPr>
              <a:t>namespaces · monitoring · Argo CD</a:t>
            </a:r>
            <a:endParaRPr lang="en-US" sz="1400" dirty="0"/>
          </a:p>
        </p:txBody>
      </p:sp>
      <p:sp>
        <p:nvSpPr>
          <p:cNvPr id="11" name="arrow"/>
          <p:cNvSpPr/>
          <p:nvPr/>
        </p:nvSpPr>
        <p:spPr>
          <a:xfrm>
            <a:off x="2377440" y="1714500"/>
            <a:ext cx="640080" cy="914"/>
          </a:xfrm>
          <a:prstGeom prst="line">
            <a:avLst/>
          </a:prstGeom>
          <a:noFill/>
          <a:ln w="19050">
            <a:solidFill>
              <a:srgbClr val="8A7F73"/>
            </a:solidFill>
            <a:prstDash val="solid"/>
            <a:tailEnd type="triangle"/>
          </a:ln>
        </p:spPr>
      </p:sp>
      <p:sp>
        <p:nvSpPr>
          <p:cNvPr id="12" name="arrow"/>
          <p:cNvSpPr/>
          <p:nvPr/>
        </p:nvSpPr>
        <p:spPr>
          <a:xfrm>
            <a:off x="6309360" y="1714500"/>
            <a:ext cx="640080" cy="914"/>
          </a:xfrm>
          <a:prstGeom prst="line">
            <a:avLst/>
          </a:prstGeom>
          <a:noFill/>
          <a:ln w="19050">
            <a:solidFill>
              <a:srgbClr val="8A7F73"/>
            </a:solidFill>
            <a:prstDash val="solid"/>
            <a:tailEnd type="triangle"/>
          </a:ln>
        </p:spPr>
      </p:sp>
      <p:sp>
        <p:nvSpPr>
          <p:cNvPr id="13" name="cluster"/>
          <p:cNvSpPr/>
          <p:nvPr/>
        </p:nvSpPr>
        <p:spPr>
          <a:xfrm>
            <a:off x="2377440" y="2697480"/>
            <a:ext cx="9262872" cy="3520440"/>
          </a:xfrm>
          <a:prstGeom prst="roundRect">
            <a:avLst>
              <a:gd name="adj" fmla="val 3117"/>
            </a:avLst>
          </a:prstGeom>
          <a:solidFill>
            <a:schemeClr val="bg1"/>
          </a:solidFill>
          <a:ln w="19050">
            <a:solidFill>
              <a:schemeClr val="accent1"/>
            </a:solidFill>
            <a:prstDash val="dash"/>
          </a:ln>
        </p:spPr>
      </p:sp>
      <p:sp>
        <p:nvSpPr>
          <p:cNvPr id="14" name="Text 12"/>
          <p:cNvSpPr txBox="1"/>
          <p:nvPr/>
        </p:nvSpPr>
        <p:spPr>
          <a:xfrm>
            <a:off x="2606040" y="2788920"/>
            <a:ext cx="5486400" cy="274320"/>
          </a:xfrm>
          <a:prstGeom prst="rect">
            <a:avLst/>
          </a:prstGeom>
          <a:noFill/>
          <a:ln/>
        </p:spPr>
        <p:txBody>
          <a:bodyPr wrap="square" lIns="0" tIns="0" rIns="0" bIns="0" rtlCol="0" anchor="t"/>
          <a:lstStyle/>
          <a:p>
            <a:pPr indent="0" marL="0">
              <a:buNone/>
            </a:pPr>
            <a:r>
              <a:rPr lang="en-US" sz="1200" b="1" dirty="0">
                <a:solidFill>
                  <a:schemeClr val="accent1"/>
                </a:solidFill>
              </a:rPr>
              <a:t>Kubernetes cluster  (minikube)</a:t>
            </a:r>
            <a:endParaRPr lang="en-US" sz="1200" dirty="0"/>
          </a:p>
        </p:txBody>
      </p:sp>
      <p:sp>
        <p:nvSpPr>
          <p:cNvPr id="15" name="arrow"/>
          <p:cNvSpPr/>
          <p:nvPr/>
        </p:nvSpPr>
        <p:spPr>
          <a:xfrm>
            <a:off x="8183880" y="2103120"/>
            <a:ext cx="914" cy="1097280"/>
          </a:xfrm>
          <a:prstGeom prst="line">
            <a:avLst/>
          </a:prstGeom>
          <a:noFill/>
          <a:ln w="19050">
            <a:solidFill>
              <a:srgbClr val="8A7F73"/>
            </a:solidFill>
            <a:prstDash val="solid"/>
            <a:tailEnd type="triangle"/>
          </a:ln>
        </p:spPr>
      </p:sp>
      <p:sp>
        <p:nvSpPr>
          <p:cNvPr id="16" name="Text 14"/>
          <p:cNvSpPr txBox="1"/>
          <p:nvPr/>
        </p:nvSpPr>
        <p:spPr>
          <a:xfrm>
            <a:off x="6446520" y="2532888"/>
            <a:ext cx="1645920" cy="237744"/>
          </a:xfrm>
          <a:prstGeom prst="rect">
            <a:avLst/>
          </a:prstGeom>
          <a:noFill/>
          <a:ln/>
        </p:spPr>
        <p:txBody>
          <a:bodyPr wrap="square" lIns="0" tIns="0" rIns="0" bIns="0" rtlCol="0" anchor="t"/>
          <a:lstStyle/>
          <a:p>
            <a:pPr algn="r" indent="0" marL="0">
              <a:buNone/>
            </a:pPr>
            <a:r>
              <a:rPr lang="en-US" sz="1000" i="1" dirty="0">
                <a:solidFill>
                  <a:schemeClr val="accent6"/>
                </a:solidFill>
              </a:rPr>
              <a:t>Argo CD pulls</a:t>
            </a:r>
            <a:endParaRPr lang="en-US" sz="1000" dirty="0"/>
          </a:p>
        </p:txBody>
      </p:sp>
      <p:sp>
        <p:nvSpPr>
          <p:cNvPr id="17" name="arrow"/>
          <p:cNvSpPr/>
          <p:nvPr/>
        </p:nvSpPr>
        <p:spPr>
          <a:xfrm>
            <a:off x="10661904" y="2103120"/>
            <a:ext cx="914" cy="594360"/>
          </a:xfrm>
          <a:prstGeom prst="line">
            <a:avLst/>
          </a:prstGeom>
          <a:noFill/>
          <a:ln w="19050">
            <a:solidFill>
              <a:srgbClr val="8A7F73"/>
            </a:solidFill>
            <a:prstDash val="solid"/>
            <a:tailEnd type="triangle"/>
          </a:ln>
        </p:spPr>
      </p:sp>
      <p:sp>
        <p:nvSpPr>
          <p:cNvPr id="18" name="Text 16"/>
          <p:cNvSpPr txBox="1"/>
          <p:nvPr/>
        </p:nvSpPr>
        <p:spPr>
          <a:xfrm>
            <a:off x="10744200" y="2281428"/>
            <a:ext cx="914400" cy="237744"/>
          </a:xfrm>
          <a:prstGeom prst="rect">
            <a:avLst/>
          </a:prstGeom>
          <a:noFill/>
          <a:ln/>
        </p:spPr>
        <p:txBody>
          <a:bodyPr wrap="square" lIns="0" tIns="0" rIns="0" bIns="0" rtlCol="0" anchor="t"/>
          <a:lstStyle/>
          <a:p>
            <a:pPr algn="l" indent="0" marL="0">
              <a:buNone/>
            </a:pPr>
            <a:r>
              <a:rPr lang="en-US" sz="1000" i="1" dirty="0">
                <a:solidFill>
                  <a:schemeClr val="accent6"/>
                </a:solidFill>
              </a:rPr>
              <a:t>applies</a:t>
            </a:r>
            <a:endParaRPr lang="en-US" sz="1000" dirty="0"/>
          </a:p>
        </p:txBody>
      </p:sp>
      <p:sp>
        <p:nvSpPr>
          <p:cNvPr id="19" name="box-Browser"/>
          <p:cNvSpPr/>
          <p:nvPr/>
        </p:nvSpPr>
        <p:spPr>
          <a:xfrm>
            <a:off x="548640" y="3200400"/>
            <a:ext cx="1508760" cy="640080"/>
          </a:xfrm>
          <a:prstGeom prst="roundRect">
            <a:avLst>
              <a:gd name="adj" fmla="val 11429"/>
            </a:avLst>
          </a:prstGeom>
          <a:solidFill>
            <a:schemeClr val="bg1"/>
          </a:solidFill>
          <a:ln w="12700">
            <a:solidFill>
              <a:schemeClr val="accent6"/>
            </a:solidFill>
            <a:prstDash val="solid"/>
          </a:ln>
        </p:spPr>
      </p:sp>
      <p:sp>
        <p:nvSpPr>
          <p:cNvPr id="20" name="Text 18"/>
          <p:cNvSpPr txBox="1"/>
          <p:nvPr/>
        </p:nvSpPr>
        <p:spPr>
          <a:xfrm>
            <a:off x="548640" y="3200400"/>
            <a:ext cx="15087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Browser</a:t>
            </a:r>
            <a:endParaRPr lang="en-US" sz="1400" dirty="0"/>
          </a:p>
          <a:p>
            <a:pPr algn="ctr" indent="0" marL="0">
              <a:buNone/>
            </a:pPr>
            <a:r>
              <a:rPr lang="en-US" sz="1100" dirty="0">
                <a:solidFill>
                  <a:schemeClr val="tx2"/>
                </a:solidFill>
              </a:rPr>
              <a:t>gearloop.local</a:t>
            </a:r>
            <a:endParaRPr lang="en-US" sz="1400" dirty="0"/>
          </a:p>
        </p:txBody>
      </p:sp>
      <p:sp>
        <p:nvSpPr>
          <p:cNvPr id="21" name="box-Ingress"/>
          <p:cNvSpPr/>
          <p:nvPr/>
        </p:nvSpPr>
        <p:spPr>
          <a:xfrm>
            <a:off x="2651760" y="3200400"/>
            <a:ext cx="1828800" cy="640080"/>
          </a:xfrm>
          <a:prstGeom prst="roundRect">
            <a:avLst>
              <a:gd name="adj" fmla="val 11429"/>
            </a:avLst>
          </a:prstGeom>
          <a:solidFill>
            <a:schemeClr val="tx1"/>
          </a:solidFill>
          <a:ln w="12700">
            <a:solidFill>
              <a:schemeClr val="tx1"/>
            </a:solidFill>
            <a:prstDash val="solid"/>
          </a:ln>
        </p:spPr>
      </p:sp>
      <p:sp>
        <p:nvSpPr>
          <p:cNvPr id="22" name="Text 20"/>
          <p:cNvSpPr txBox="1"/>
          <p:nvPr/>
        </p:nvSpPr>
        <p:spPr>
          <a:xfrm>
            <a:off x="2651760" y="3200400"/>
            <a:ext cx="182880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Ingress</a:t>
            </a:r>
            <a:endParaRPr lang="en-US" sz="1400" dirty="0"/>
          </a:p>
          <a:p>
            <a:pPr algn="ctr" indent="0" marL="0">
              <a:buNone/>
            </a:pPr>
            <a:r>
              <a:rPr lang="en-US" sz="1100" dirty="0">
                <a:solidFill>
                  <a:schemeClr val="bg2"/>
                </a:solidFill>
              </a:rPr>
              <a:t>ingress-nginx</a:t>
            </a:r>
            <a:endParaRPr lang="en-US" sz="1400" dirty="0"/>
          </a:p>
        </p:txBody>
      </p:sp>
      <p:sp>
        <p:nvSpPr>
          <p:cNvPr id="23" name="arrow"/>
          <p:cNvSpPr/>
          <p:nvPr/>
        </p:nvSpPr>
        <p:spPr>
          <a:xfrm>
            <a:off x="2057400" y="3520440"/>
            <a:ext cx="594360" cy="914"/>
          </a:xfrm>
          <a:prstGeom prst="line">
            <a:avLst/>
          </a:prstGeom>
          <a:noFill/>
          <a:ln w="19050">
            <a:solidFill>
              <a:srgbClr val="8A7F73"/>
            </a:solidFill>
            <a:prstDash val="solid"/>
            <a:tailEnd type="triangle"/>
          </a:ln>
        </p:spPr>
      </p:sp>
      <p:sp>
        <p:nvSpPr>
          <p:cNvPr id="24" name="box-frontend ×2"/>
          <p:cNvSpPr/>
          <p:nvPr/>
        </p:nvSpPr>
        <p:spPr>
          <a:xfrm>
            <a:off x="5120640" y="3200400"/>
            <a:ext cx="2286000" cy="640080"/>
          </a:xfrm>
          <a:prstGeom prst="roundRect">
            <a:avLst>
              <a:gd name="adj" fmla="val 11429"/>
            </a:avLst>
          </a:prstGeom>
          <a:solidFill>
            <a:schemeClr val="bg2"/>
          </a:solidFill>
          <a:ln w="12700">
            <a:solidFill>
              <a:schemeClr val="bg2"/>
            </a:solidFill>
            <a:prstDash val="solid"/>
          </a:ln>
        </p:spPr>
      </p:sp>
      <p:sp>
        <p:nvSpPr>
          <p:cNvPr id="25" name="Text 23"/>
          <p:cNvSpPr txBox="1"/>
          <p:nvPr/>
        </p:nvSpPr>
        <p:spPr>
          <a:xfrm>
            <a:off x="5120640" y="3200400"/>
            <a:ext cx="22860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frontend ×2</a:t>
            </a:r>
            <a:endParaRPr lang="en-US" sz="1400" dirty="0"/>
          </a:p>
          <a:p>
            <a:pPr algn="ctr" indent="0" marL="0">
              <a:buNone/>
            </a:pPr>
            <a:r>
              <a:rPr lang="en-US" sz="1100" dirty="0">
                <a:solidFill>
                  <a:schemeClr val="tx2"/>
                </a:solidFill>
              </a:rPr>
              <a:t>nginx (React build)</a:t>
            </a:r>
            <a:endParaRPr lang="en-US" sz="1400" dirty="0"/>
          </a:p>
        </p:txBody>
      </p:sp>
      <p:sp>
        <p:nvSpPr>
          <p:cNvPr id="26" name="box-backend ×2–6"/>
          <p:cNvSpPr/>
          <p:nvPr/>
        </p:nvSpPr>
        <p:spPr>
          <a:xfrm>
            <a:off x="5120640" y="4206240"/>
            <a:ext cx="2286000" cy="640080"/>
          </a:xfrm>
          <a:prstGeom prst="roundRect">
            <a:avLst>
              <a:gd name="adj" fmla="val 11429"/>
            </a:avLst>
          </a:prstGeom>
          <a:solidFill>
            <a:schemeClr val="bg2"/>
          </a:solidFill>
          <a:ln w="12700">
            <a:solidFill>
              <a:schemeClr val="bg2"/>
            </a:solidFill>
            <a:prstDash val="solid"/>
          </a:ln>
        </p:spPr>
      </p:sp>
      <p:sp>
        <p:nvSpPr>
          <p:cNvPr id="27" name="Text 25"/>
          <p:cNvSpPr txBox="1"/>
          <p:nvPr/>
        </p:nvSpPr>
        <p:spPr>
          <a:xfrm>
            <a:off x="5120640" y="4206240"/>
            <a:ext cx="22860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backend ×2–6</a:t>
            </a:r>
            <a:endParaRPr lang="en-US" sz="1400" dirty="0"/>
          </a:p>
          <a:p>
            <a:pPr algn="ctr" indent="0" marL="0">
              <a:buNone/>
            </a:pPr>
            <a:r>
              <a:rPr lang="en-US" sz="1100" dirty="0">
                <a:solidFill>
                  <a:schemeClr val="tx2"/>
                </a:solidFill>
              </a:rPr>
              <a:t>FastAPI · HPA on CPU</a:t>
            </a:r>
            <a:endParaRPr lang="en-US" sz="1400" dirty="0"/>
          </a:p>
        </p:txBody>
      </p:sp>
      <p:sp>
        <p:nvSpPr>
          <p:cNvPr id="28" name="box-PostgreSQL"/>
          <p:cNvSpPr/>
          <p:nvPr/>
        </p:nvSpPr>
        <p:spPr>
          <a:xfrm>
            <a:off x="5120640" y="5212080"/>
            <a:ext cx="2286000" cy="640080"/>
          </a:xfrm>
          <a:prstGeom prst="roundRect">
            <a:avLst>
              <a:gd name="adj" fmla="val 11429"/>
            </a:avLst>
          </a:prstGeom>
          <a:solidFill>
            <a:schemeClr val="bg2"/>
          </a:solidFill>
          <a:ln w="12700">
            <a:solidFill>
              <a:schemeClr val="bg2"/>
            </a:solidFill>
            <a:prstDash val="solid"/>
          </a:ln>
        </p:spPr>
      </p:sp>
      <p:sp>
        <p:nvSpPr>
          <p:cNvPr id="29" name="Text 27"/>
          <p:cNvSpPr txBox="1"/>
          <p:nvPr/>
        </p:nvSpPr>
        <p:spPr>
          <a:xfrm>
            <a:off x="5120640" y="5212080"/>
            <a:ext cx="22860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PostgreSQL</a:t>
            </a:r>
            <a:endParaRPr lang="en-US" sz="1400" dirty="0"/>
          </a:p>
          <a:p>
            <a:pPr algn="ctr" indent="0" marL="0">
              <a:buNone/>
            </a:pPr>
            <a:r>
              <a:rPr lang="en-US" sz="1100" dirty="0">
                <a:solidFill>
                  <a:schemeClr val="tx2"/>
                </a:solidFill>
              </a:rPr>
              <a:t>StatefulSet + PVC</a:t>
            </a:r>
            <a:endParaRPr lang="en-US" sz="1400" dirty="0"/>
          </a:p>
        </p:txBody>
      </p:sp>
      <p:sp>
        <p:nvSpPr>
          <p:cNvPr id="30" name="arrow"/>
          <p:cNvSpPr/>
          <p:nvPr/>
        </p:nvSpPr>
        <p:spPr>
          <a:xfrm>
            <a:off x="4480560" y="3520440"/>
            <a:ext cx="640080" cy="914"/>
          </a:xfrm>
          <a:prstGeom prst="line">
            <a:avLst/>
          </a:prstGeom>
          <a:noFill/>
          <a:ln w="19050">
            <a:solidFill>
              <a:srgbClr val="8A7F73"/>
            </a:solidFill>
            <a:prstDash val="solid"/>
            <a:tailEnd type="triangle"/>
          </a:ln>
        </p:spPr>
      </p:sp>
      <p:sp>
        <p:nvSpPr>
          <p:cNvPr id="31" name="Text 29"/>
          <p:cNvSpPr txBox="1"/>
          <p:nvPr/>
        </p:nvSpPr>
        <p:spPr>
          <a:xfrm>
            <a:off x="4709160" y="3200400"/>
            <a:ext cx="274320" cy="237744"/>
          </a:xfrm>
          <a:prstGeom prst="rect">
            <a:avLst/>
          </a:prstGeom>
          <a:noFill/>
          <a:ln/>
        </p:spPr>
        <p:txBody>
          <a:bodyPr wrap="square" lIns="0" tIns="0" rIns="0" bIns="0" rtlCol="0" anchor="t"/>
          <a:lstStyle/>
          <a:p>
            <a:pPr algn="l" indent="0" marL="0">
              <a:buNone/>
            </a:pPr>
            <a:r>
              <a:rPr lang="en-US" sz="1000" i="1" dirty="0">
                <a:solidFill>
                  <a:schemeClr val="accent6"/>
                </a:solidFill>
              </a:rPr>
              <a:t>/</a:t>
            </a:r>
            <a:endParaRPr lang="en-US" sz="1000" dirty="0"/>
          </a:p>
        </p:txBody>
      </p:sp>
      <p:sp>
        <p:nvSpPr>
          <p:cNvPr id="32" name="arrow"/>
          <p:cNvSpPr/>
          <p:nvPr/>
        </p:nvSpPr>
        <p:spPr>
          <a:xfrm>
            <a:off x="4480560" y="3703320"/>
            <a:ext cx="640080" cy="731520"/>
          </a:xfrm>
          <a:prstGeom prst="line">
            <a:avLst/>
          </a:prstGeom>
          <a:noFill/>
          <a:ln w="19050">
            <a:solidFill>
              <a:srgbClr val="8A7F73"/>
            </a:solidFill>
            <a:prstDash val="solid"/>
            <a:tailEnd type="triangle"/>
          </a:ln>
        </p:spPr>
      </p:sp>
      <p:sp>
        <p:nvSpPr>
          <p:cNvPr id="33" name="Text 31"/>
          <p:cNvSpPr txBox="1"/>
          <p:nvPr/>
        </p:nvSpPr>
        <p:spPr>
          <a:xfrm>
            <a:off x="4160520" y="4114800"/>
            <a:ext cx="548640" cy="237744"/>
          </a:xfrm>
          <a:prstGeom prst="rect">
            <a:avLst/>
          </a:prstGeom>
          <a:noFill/>
          <a:ln/>
        </p:spPr>
        <p:txBody>
          <a:bodyPr wrap="square" lIns="0" tIns="0" rIns="0" bIns="0" rtlCol="0" anchor="t"/>
          <a:lstStyle/>
          <a:p>
            <a:pPr algn="l" indent="0" marL="0">
              <a:buNone/>
            </a:pPr>
            <a:r>
              <a:rPr lang="en-US" sz="1000" i="1" dirty="0">
                <a:solidFill>
                  <a:schemeClr val="accent6"/>
                </a:solidFill>
              </a:rPr>
              <a:t>/api</a:t>
            </a:r>
            <a:endParaRPr lang="en-US" sz="1000" dirty="0"/>
          </a:p>
        </p:txBody>
      </p:sp>
      <p:sp>
        <p:nvSpPr>
          <p:cNvPr id="34" name="arrow"/>
          <p:cNvSpPr/>
          <p:nvPr/>
        </p:nvSpPr>
        <p:spPr>
          <a:xfrm>
            <a:off x="6263640" y="4846320"/>
            <a:ext cx="914" cy="365760"/>
          </a:xfrm>
          <a:prstGeom prst="line">
            <a:avLst/>
          </a:prstGeom>
          <a:noFill/>
          <a:ln w="19050">
            <a:solidFill>
              <a:srgbClr val="8A7F73"/>
            </a:solidFill>
            <a:prstDash val="solid"/>
            <a:tailEnd type="triangle"/>
          </a:ln>
        </p:spPr>
      </p:sp>
      <p:sp>
        <p:nvSpPr>
          <p:cNvPr id="35" name="Text 33"/>
          <p:cNvSpPr txBox="1"/>
          <p:nvPr/>
        </p:nvSpPr>
        <p:spPr>
          <a:xfrm>
            <a:off x="6355080" y="4910328"/>
            <a:ext cx="2011680" cy="237744"/>
          </a:xfrm>
          <a:prstGeom prst="rect">
            <a:avLst/>
          </a:prstGeom>
          <a:noFill/>
          <a:ln/>
        </p:spPr>
        <p:txBody>
          <a:bodyPr wrap="square" lIns="0" tIns="0" rIns="0" bIns="0" rtlCol="0" anchor="t"/>
          <a:lstStyle/>
          <a:p>
            <a:pPr algn="l" indent="0" marL="0">
              <a:buNone/>
            </a:pPr>
            <a:r>
              <a:rPr lang="en-US" sz="1000" i="1" dirty="0">
                <a:solidFill>
                  <a:schemeClr val="accent6"/>
                </a:solidFill>
              </a:rPr>
              <a:t>initContainer migrates</a:t>
            </a:r>
            <a:endParaRPr lang="en-US" sz="1000" dirty="0"/>
          </a:p>
        </p:txBody>
      </p:sp>
      <p:sp>
        <p:nvSpPr>
          <p:cNvPr id="36" name="box-Argo CD"/>
          <p:cNvSpPr/>
          <p:nvPr/>
        </p:nvSpPr>
        <p:spPr>
          <a:xfrm>
            <a:off x="7726680" y="3200400"/>
            <a:ext cx="2377440" cy="640080"/>
          </a:xfrm>
          <a:prstGeom prst="roundRect">
            <a:avLst>
              <a:gd name="adj" fmla="val 11429"/>
            </a:avLst>
          </a:prstGeom>
          <a:solidFill>
            <a:schemeClr val="accent1"/>
          </a:solidFill>
          <a:ln w="12700">
            <a:solidFill>
              <a:schemeClr val="accent1"/>
            </a:solidFill>
            <a:prstDash val="solid"/>
          </a:ln>
        </p:spPr>
      </p:sp>
      <p:sp>
        <p:nvSpPr>
          <p:cNvPr id="37" name="Text 35"/>
          <p:cNvSpPr txBox="1"/>
          <p:nvPr/>
        </p:nvSpPr>
        <p:spPr>
          <a:xfrm>
            <a:off x="7726680" y="3200400"/>
            <a:ext cx="237744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Argo CD</a:t>
            </a:r>
            <a:endParaRPr lang="en-US" sz="1400" dirty="0"/>
          </a:p>
          <a:p>
            <a:pPr algn="ctr" indent="0" marL="0">
              <a:buNone/>
            </a:pPr>
            <a:r>
              <a:rPr lang="en-US" sz="1100" dirty="0">
                <a:solidFill>
                  <a:schemeClr val="bg1"/>
                </a:solidFill>
              </a:rPr>
              <a:t>auto-sync · prune · self-heal</a:t>
            </a:r>
            <a:endParaRPr lang="en-US" sz="1400" dirty="0"/>
          </a:p>
        </p:txBody>
      </p:sp>
      <p:sp>
        <p:nvSpPr>
          <p:cNvPr id="38" name="arrow"/>
          <p:cNvSpPr/>
          <p:nvPr/>
        </p:nvSpPr>
        <p:spPr>
          <a:xfrm flipH="1">
            <a:off x="7406640" y="3520440"/>
            <a:ext cx="320040" cy="914"/>
          </a:xfrm>
          <a:prstGeom prst="line">
            <a:avLst/>
          </a:prstGeom>
          <a:noFill/>
          <a:ln w="19050">
            <a:solidFill>
              <a:srgbClr val="8A7F73"/>
            </a:solidFill>
            <a:prstDash val="solid"/>
            <a:tailEnd type="triangle"/>
          </a:ln>
        </p:spPr>
      </p:sp>
      <p:sp>
        <p:nvSpPr>
          <p:cNvPr id="39" name="box-Prometheus"/>
          <p:cNvSpPr/>
          <p:nvPr/>
        </p:nvSpPr>
        <p:spPr>
          <a:xfrm>
            <a:off x="8321040" y="4206240"/>
            <a:ext cx="1600200" cy="640080"/>
          </a:xfrm>
          <a:prstGeom prst="roundRect">
            <a:avLst>
              <a:gd name="adj" fmla="val 11429"/>
            </a:avLst>
          </a:prstGeom>
          <a:solidFill>
            <a:schemeClr val="bg2"/>
          </a:solidFill>
          <a:ln w="12700">
            <a:solidFill>
              <a:schemeClr val="bg2"/>
            </a:solidFill>
            <a:prstDash val="solid"/>
          </a:ln>
        </p:spPr>
      </p:sp>
      <p:sp>
        <p:nvSpPr>
          <p:cNvPr id="40" name="Text 38"/>
          <p:cNvSpPr txBox="1"/>
          <p:nvPr/>
        </p:nvSpPr>
        <p:spPr>
          <a:xfrm>
            <a:off x="8321040" y="4206240"/>
            <a:ext cx="16002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Prometheus</a:t>
            </a:r>
            <a:endParaRPr lang="en-US" sz="1400" dirty="0"/>
          </a:p>
          <a:p>
            <a:pPr algn="ctr" indent="0" marL="0">
              <a:buNone/>
            </a:pPr>
            <a:r>
              <a:rPr lang="en-US" sz="1100" dirty="0">
                <a:solidFill>
                  <a:schemeClr val="tx2"/>
                </a:solidFill>
              </a:rPr>
              <a:t>ServiceMonitor</a:t>
            </a:r>
            <a:endParaRPr lang="en-US" sz="1400" dirty="0"/>
          </a:p>
        </p:txBody>
      </p:sp>
      <p:sp>
        <p:nvSpPr>
          <p:cNvPr id="41" name="box-Grafana"/>
          <p:cNvSpPr/>
          <p:nvPr/>
        </p:nvSpPr>
        <p:spPr>
          <a:xfrm>
            <a:off x="10195560" y="4206240"/>
            <a:ext cx="1234440" cy="640080"/>
          </a:xfrm>
          <a:prstGeom prst="roundRect">
            <a:avLst>
              <a:gd name="adj" fmla="val 11429"/>
            </a:avLst>
          </a:prstGeom>
          <a:solidFill>
            <a:schemeClr val="bg2"/>
          </a:solidFill>
          <a:ln w="12700">
            <a:solidFill>
              <a:schemeClr val="bg2"/>
            </a:solidFill>
            <a:prstDash val="solid"/>
          </a:ln>
        </p:spPr>
      </p:sp>
      <p:sp>
        <p:nvSpPr>
          <p:cNvPr id="42" name="Text 40"/>
          <p:cNvSpPr txBox="1"/>
          <p:nvPr/>
        </p:nvSpPr>
        <p:spPr>
          <a:xfrm>
            <a:off x="10195560" y="4206240"/>
            <a:ext cx="123444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Grafana</a:t>
            </a:r>
            <a:endParaRPr lang="en-US" sz="1400" dirty="0"/>
          </a:p>
          <a:p>
            <a:pPr algn="ctr" indent="0" marL="0">
              <a:buNone/>
            </a:pPr>
            <a:r>
              <a:rPr lang="en-US" sz="1100" dirty="0">
                <a:solidFill>
                  <a:schemeClr val="tx2"/>
                </a:solidFill>
              </a:rPr>
              <a:t>dashboard</a:t>
            </a:r>
            <a:endParaRPr lang="en-US" sz="1400" dirty="0"/>
          </a:p>
        </p:txBody>
      </p:sp>
      <p:sp>
        <p:nvSpPr>
          <p:cNvPr id="43" name="arrow"/>
          <p:cNvSpPr/>
          <p:nvPr/>
        </p:nvSpPr>
        <p:spPr>
          <a:xfrm flipH="1">
            <a:off x="7406640" y="4526280"/>
            <a:ext cx="914400" cy="914"/>
          </a:xfrm>
          <a:prstGeom prst="line">
            <a:avLst/>
          </a:prstGeom>
          <a:noFill/>
          <a:ln w="19050">
            <a:solidFill>
              <a:srgbClr val="8A7F73"/>
            </a:solidFill>
            <a:prstDash val="solid"/>
            <a:tailEnd type="triangle"/>
          </a:ln>
        </p:spPr>
      </p:sp>
      <p:sp>
        <p:nvSpPr>
          <p:cNvPr id="44" name="Text 42"/>
          <p:cNvSpPr txBox="1"/>
          <p:nvPr/>
        </p:nvSpPr>
        <p:spPr>
          <a:xfrm>
            <a:off x="7498080" y="4224528"/>
            <a:ext cx="731520" cy="237744"/>
          </a:xfrm>
          <a:prstGeom prst="rect">
            <a:avLst/>
          </a:prstGeom>
          <a:noFill/>
          <a:ln/>
        </p:spPr>
        <p:txBody>
          <a:bodyPr wrap="square" lIns="0" tIns="0" rIns="0" bIns="0" rtlCol="0" anchor="t"/>
          <a:lstStyle/>
          <a:p>
            <a:pPr algn="l" indent="0" marL="0">
              <a:buNone/>
            </a:pPr>
            <a:r>
              <a:rPr lang="en-US" sz="1000" i="1" dirty="0">
                <a:solidFill>
                  <a:schemeClr val="accent6"/>
                </a:solidFill>
              </a:rPr>
              <a:t>scrape</a:t>
            </a:r>
            <a:endParaRPr lang="en-US" sz="1000" dirty="0"/>
          </a:p>
        </p:txBody>
      </p:sp>
      <p:sp>
        <p:nvSpPr>
          <p:cNvPr id="45" name="arrow"/>
          <p:cNvSpPr/>
          <p:nvPr/>
        </p:nvSpPr>
        <p:spPr>
          <a:xfrm>
            <a:off x="9921240" y="4526280"/>
            <a:ext cx="274320" cy="914"/>
          </a:xfrm>
          <a:prstGeom prst="line">
            <a:avLst/>
          </a:prstGeom>
          <a:noFill/>
          <a:ln w="19050">
            <a:solidFill>
              <a:srgbClr val="8A7F73"/>
            </a:solidFill>
            <a:prstDash val="solid"/>
            <a:tailEnd type="triangle"/>
          </a:ln>
        </p:spPr>
      </p:sp>
      <p:sp>
        <p:nvSpPr>
          <p:cNvPr id="46" name="Text 44"/>
          <p:cNvSpPr txBox="1"/>
          <p:nvPr/>
        </p:nvSpPr>
        <p:spPr>
          <a:xfrm>
            <a:off x="7772400" y="5257800"/>
            <a:ext cx="3703320" cy="594360"/>
          </a:xfrm>
          <a:prstGeom prst="rect">
            <a:avLst/>
          </a:prstGeom>
          <a:noFill/>
          <a:ln/>
        </p:spPr>
        <p:txBody>
          <a:bodyPr wrap="square" lIns="0" tIns="0" rIns="0" bIns="0" rtlCol="0" anchor="t"/>
          <a:lstStyle/>
          <a:p>
            <a:pPr indent="0" marL="0">
              <a:buNone/>
            </a:pPr>
            <a:r>
              <a:rPr lang="en-US" sz="1100" i="1" dirty="0">
                <a:solidFill>
                  <a:schemeClr val="tx2"/>
                </a:solidFill>
              </a:rPr>
              <a:t>Namespace gearloop · Pod Security "restricted" · NetworkPolicy · PDBs · PrometheusRule alerts</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Core workflows in the UI</a:t>
            </a:r>
            <a:endParaRPr lang="en-US" sz="3400" dirty="0"/>
          </a:p>
        </p:txBody>
      </p:sp>
      <p:pic>
        <p:nvPicPr>
          <p:cNvPr id="3" name="img-c-add.png" descr="c-add.png">    </p:cNvPr>
          <p:cNvPicPr>
            <a:picLocks noChangeAspect="1"/>
          </p:cNvPicPr>
          <p:nvPr/>
        </p:nvPicPr>
        <p:blipFill>
          <a:blip r:embed="rId1"/>
          <a:stretch>
            <a:fillRect/>
          </a:stretch>
        </p:blipFill>
        <p:spPr>
          <a:xfrm>
            <a:off x="548640" y="1778355"/>
            <a:ext cx="2533574" cy="2702205"/>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548640"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1  Register</a:t>
            </a:r>
            <a:endParaRPr lang="en-US" sz="1700" dirty="0"/>
          </a:p>
        </p:txBody>
      </p:sp>
      <p:sp>
        <p:nvSpPr>
          <p:cNvPr id="5" name="Text 2"/>
          <p:cNvSpPr txBox="1"/>
          <p:nvPr/>
        </p:nvSpPr>
        <p:spPr>
          <a:xfrm>
            <a:off x="548640"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Asset tags are unique; the API answers 409 on duplicates.</a:t>
            </a:r>
            <a:endParaRPr lang="en-US" sz="1300" dirty="0"/>
          </a:p>
        </p:txBody>
      </p:sp>
      <p:pic>
        <p:nvPicPr>
          <p:cNvPr id="6" name="img-c-checkout.png" descr="c-checkout.png">    </p:cNvPr>
          <p:cNvPicPr>
            <a:picLocks noChangeAspect="1"/>
          </p:cNvPicPr>
          <p:nvPr/>
        </p:nvPicPr>
        <p:blipFill>
          <a:blip r:embed="rId2"/>
          <a:stretch>
            <a:fillRect/>
          </a:stretch>
        </p:blipFill>
        <p:spPr>
          <a:xfrm>
            <a:off x="3402254" y="1871917"/>
            <a:ext cx="2533574" cy="2608643"/>
          </a:xfrm>
          <a:prstGeom prst="rect">
            <a:avLst/>
          </a:prstGeom>
          <a:effectLst>
            <a:outerShdw sx="100000" sy="100000" kx="0" ky="0" algn="bl" rotWithShape="0" blurRad="127000" dist="38100" dir="5400000">
              <a:srgbClr val="3B2A1E">
                <a:alpha val="22000"/>
              </a:srgbClr>
            </a:outerShdw>
          </a:effectLst>
        </p:spPr>
      </p:pic>
      <p:sp>
        <p:nvSpPr>
          <p:cNvPr id="7" name="Text 3"/>
          <p:cNvSpPr txBox="1"/>
          <p:nvPr/>
        </p:nvSpPr>
        <p:spPr>
          <a:xfrm>
            <a:off x="3402254"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2  Check out</a:t>
            </a:r>
            <a:endParaRPr lang="en-US" sz="1700" dirty="0"/>
          </a:p>
        </p:txBody>
      </p:sp>
      <p:sp>
        <p:nvSpPr>
          <p:cNvPr id="8" name="Text 4"/>
          <p:cNvSpPr txBox="1"/>
          <p:nvPr/>
        </p:nvSpPr>
        <p:spPr>
          <a:xfrm>
            <a:off x="3402254"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Borrower, purpose and a 1–30 day loan; due date shown live.</a:t>
            </a:r>
            <a:endParaRPr lang="en-US" sz="1300" dirty="0"/>
          </a:p>
        </p:txBody>
      </p:sp>
      <p:pic>
        <p:nvPicPr>
          <p:cNvPr id="9" name="img-c-loan.png" descr="c-loan.png">    </p:cNvPr>
          <p:cNvPicPr>
            <a:picLocks noChangeAspect="1"/>
          </p:cNvPicPr>
          <p:nvPr/>
        </p:nvPicPr>
        <p:blipFill>
          <a:blip r:embed="rId3"/>
          <a:stretch>
            <a:fillRect/>
          </a:stretch>
        </p:blipFill>
        <p:spPr>
          <a:xfrm>
            <a:off x="6255868" y="2206840"/>
            <a:ext cx="2533574" cy="2273720"/>
          </a:xfrm>
          <a:prstGeom prst="rect">
            <a:avLst/>
          </a:prstGeom>
          <a:effectLst>
            <a:outerShdw sx="100000" sy="100000" kx="0" ky="0" algn="bl" rotWithShape="0" blurRad="127000" dist="38100" dir="5400000">
              <a:srgbClr val="3B2A1E">
                <a:alpha val="22000"/>
              </a:srgbClr>
            </a:outerShdw>
          </a:effectLst>
        </p:spPr>
      </p:pic>
      <p:sp>
        <p:nvSpPr>
          <p:cNvPr id="10" name="Text 5"/>
          <p:cNvSpPr txBox="1"/>
          <p:nvPr/>
        </p:nvSpPr>
        <p:spPr>
          <a:xfrm>
            <a:off x="6255868"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3  On loan</a:t>
            </a:r>
            <a:endParaRPr lang="en-US" sz="1700" dirty="0"/>
          </a:p>
        </p:txBody>
      </p:sp>
      <p:sp>
        <p:nvSpPr>
          <p:cNvPr id="11" name="Text 6"/>
          <p:cNvSpPr txBox="1"/>
          <p:nvPr/>
        </p:nvSpPr>
        <p:spPr>
          <a:xfrm>
            <a:off x="6255868"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Card shows who has it and when it is due; the activity feed updates.</a:t>
            </a:r>
            <a:endParaRPr lang="en-US" sz="1300" dirty="0"/>
          </a:p>
        </p:txBody>
      </p:sp>
      <p:pic>
        <p:nvPicPr>
          <p:cNvPr id="12" name="img-c-edit.png" descr="c-edit.png">    </p:cNvPr>
          <p:cNvPicPr>
            <a:picLocks noChangeAspect="1"/>
          </p:cNvPicPr>
          <p:nvPr/>
        </p:nvPicPr>
        <p:blipFill>
          <a:blip r:embed="rId4"/>
          <a:stretch>
            <a:fillRect/>
          </a:stretch>
        </p:blipFill>
        <p:spPr>
          <a:xfrm>
            <a:off x="9109481" y="1778355"/>
            <a:ext cx="2533574" cy="2702205"/>
          </a:xfrm>
          <a:prstGeom prst="rect">
            <a:avLst/>
          </a:prstGeom>
          <a:effectLst>
            <a:outerShdw sx="100000" sy="100000" kx="0" ky="0" algn="bl" rotWithShape="0" blurRad="127000" dist="38100" dir="5400000">
              <a:srgbClr val="3B2A1E">
                <a:alpha val="22000"/>
              </a:srgbClr>
            </a:outerShdw>
          </a:effectLst>
        </p:spPr>
      </p:pic>
      <p:sp>
        <p:nvSpPr>
          <p:cNvPr id="13" name="Text 7"/>
          <p:cNvSpPr txBox="1"/>
          <p:nvPr/>
        </p:nvSpPr>
        <p:spPr>
          <a:xfrm>
            <a:off x="9109481"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4  Repair</a:t>
            </a:r>
            <a:endParaRPr lang="en-US" sz="1700" dirty="0"/>
          </a:p>
        </p:txBody>
      </p:sp>
      <p:sp>
        <p:nvSpPr>
          <p:cNvPr id="14" name="Text 8"/>
          <p:cNvSpPr txBox="1"/>
          <p:nvPr/>
        </p:nvSpPr>
        <p:spPr>
          <a:xfrm>
            <a:off x="9109481"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Setting "Needs repair" blocks new checkouts until fixed.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Responsive, and honest about failure</a:t>
            </a:r>
            <a:endParaRPr lang="en-US" sz="3400" dirty="0"/>
          </a:p>
        </p:txBody>
      </p:sp>
      <p:pic>
        <p:nvPicPr>
          <p:cNvPr id="3" name="img-13-mobile.png" descr="13-mobile.png">    </p:cNvPr>
          <p:cNvPicPr>
            <a:picLocks noChangeAspect="1"/>
          </p:cNvPicPr>
          <p:nvPr/>
        </p:nvPicPr>
        <p:blipFill>
          <a:blip r:embed="rId1"/>
          <a:stretch>
            <a:fillRect/>
          </a:stretch>
        </p:blipFill>
        <p:spPr>
          <a:xfrm>
            <a:off x="548640" y="1325880"/>
            <a:ext cx="2148840" cy="4650310"/>
          </a:xfrm>
          <a:prstGeom prst="rect">
            <a:avLst/>
          </a:prstGeom>
          <a:effectLst>
            <a:outerShdw sx="100000" sy="100000" kx="0" ky="0" algn="bl" rotWithShape="0" blurRad="127000" dist="38100" dir="5400000">
              <a:srgbClr val="3B2A1E">
                <a:alpha val="22000"/>
              </a:srgbClr>
            </a:outerShdw>
          </a:effectLst>
        </p:spPr>
      </p:pic>
      <p:pic>
        <p:nvPicPr>
          <p:cNvPr id="4" name="img-14-mobile-checkout.png" descr="14-mobile-checkout.png">    </p:cNvPr>
          <p:cNvPicPr>
            <a:picLocks noChangeAspect="1"/>
          </p:cNvPicPr>
          <p:nvPr/>
        </p:nvPicPr>
        <p:blipFill>
          <a:blip r:embed="rId2"/>
          <a:stretch>
            <a:fillRect/>
          </a:stretch>
        </p:blipFill>
        <p:spPr>
          <a:xfrm>
            <a:off x="2880360" y="1325880"/>
            <a:ext cx="2148840" cy="4650310"/>
          </a:xfrm>
          <a:prstGeom prst="rect">
            <a:avLst/>
          </a:prstGeom>
          <a:effectLst>
            <a:outerShdw sx="100000" sy="100000" kx="0" ky="0" algn="bl" rotWithShape="0" blurRad="127000" dist="38100" dir="5400000">
              <a:srgbClr val="3B2A1E">
                <a:alpha val="22000"/>
              </a:srgbClr>
            </a:outerShdw>
          </a:effectLst>
        </p:spPr>
      </p:pic>
      <p:pic>
        <p:nvPicPr>
          <p:cNvPr id="5" name="img-15-backend-offline.png" descr="15-backend-offline.png">    </p:cNvPr>
          <p:cNvPicPr>
            <a:picLocks noChangeAspect="1"/>
          </p:cNvPicPr>
          <p:nvPr/>
        </p:nvPicPr>
        <p:blipFill>
          <a:blip r:embed="rId3"/>
          <a:stretch>
            <a:fillRect/>
          </a:stretch>
        </p:blipFill>
        <p:spPr>
          <a:xfrm>
            <a:off x="6665976" y="1325880"/>
            <a:ext cx="4974336" cy="3108960"/>
          </a:xfrm>
          <a:prstGeom prst="rect">
            <a:avLst/>
          </a:prstGeom>
          <a:effectLst>
            <a:outerShdw sx="100000" sy="100000" kx="0" ky="0" algn="bl" rotWithShape="0" blurRad="127000" dist="38100" dir="5400000">
              <a:srgbClr val="3B2A1E">
                <a:alpha val="22000"/>
              </a:srgbClr>
            </a:outerShdw>
          </a:effectLst>
        </p:spPr>
      </p:pic>
      <p:sp>
        <p:nvSpPr>
          <p:cNvPr id="6" name="Text 1"/>
          <p:cNvSpPr txBox="1"/>
          <p:nvPr/>
        </p:nvSpPr>
        <p:spPr>
          <a:xfrm>
            <a:off x="6665976" y="4507992"/>
            <a:ext cx="4974336" cy="274320"/>
          </a:xfrm>
          <a:prstGeom prst="rect">
            <a:avLst/>
          </a:prstGeom>
          <a:noFill/>
          <a:ln/>
        </p:spPr>
        <p:txBody>
          <a:bodyPr wrap="square" lIns="0" tIns="0" rIns="0" bIns="0" rtlCol="0" anchor="t"/>
          <a:lstStyle/>
          <a:p>
            <a:pPr indent="0" marL="0">
              <a:buNone/>
            </a:pPr>
            <a:r>
              <a:rPr lang="en-US" sz="1100" i="1" dirty="0">
                <a:solidFill>
                  <a:schemeClr val="accent6"/>
                </a:solidFill>
              </a:rPr>
              <a:t>Backend container stopped: clear message + Retry instead of a blank page</a:t>
            </a:r>
            <a:endParaRPr lang="en-US" sz="1100" dirty="0"/>
          </a:p>
        </p:txBody>
      </p:sp>
      <p:pic>
        <p:nvPicPr>
          <p:cNvPr id="7" name="img-c-toast.png" descr="c-toast.png">    </p:cNvPr>
          <p:cNvPicPr>
            <a:picLocks noChangeAspect="1"/>
          </p:cNvPicPr>
          <p:nvPr/>
        </p:nvPicPr>
        <p:blipFill>
          <a:blip r:embed="rId4"/>
          <a:stretch>
            <a:fillRect/>
          </a:stretch>
        </p:blipFill>
        <p:spPr>
          <a:xfrm>
            <a:off x="6665976" y="4937760"/>
            <a:ext cx="2743200" cy="508819"/>
          </a:xfrm>
          <a:prstGeom prst="rect">
            <a:avLst/>
          </a:prstGeom>
          <a:effectLst>
            <a:outerShdw sx="100000" sy="100000" kx="0" ky="0" algn="bl" rotWithShape="0" blurRad="127000" dist="38100" dir="5400000">
              <a:srgbClr val="3B2A1E">
                <a:alpha val="22000"/>
              </a:srgbClr>
            </a:outerShdw>
          </a:effectLst>
        </p:spPr>
      </p:pic>
      <p:sp>
        <p:nvSpPr>
          <p:cNvPr id="8" name="Text 2"/>
          <p:cNvSpPr txBox="1"/>
          <p:nvPr/>
        </p:nvSpPr>
        <p:spPr>
          <a:xfrm>
            <a:off x="6665976" y="5504688"/>
            <a:ext cx="2743200" cy="274320"/>
          </a:xfrm>
          <a:prstGeom prst="rect">
            <a:avLst/>
          </a:prstGeom>
          <a:noFill/>
          <a:ln/>
        </p:spPr>
        <p:txBody>
          <a:bodyPr wrap="square" lIns="0" tIns="0" rIns="0" bIns="0" rtlCol="0" anchor="t"/>
          <a:lstStyle/>
          <a:p>
            <a:pPr indent="0" marL="0">
              <a:buNone/>
            </a:pPr>
            <a:r>
              <a:rPr lang="en-US" sz="1100" i="1" dirty="0">
                <a:solidFill>
                  <a:schemeClr val="accent6"/>
                </a:solidFill>
              </a:rPr>
              <a:t>API errors (409 / 422) as toasts</a:t>
            </a:r>
            <a:endParaRPr lang="en-US" sz="1100" dirty="0"/>
          </a:p>
        </p:txBody>
      </p:sp>
      <p:sp>
        <p:nvSpPr>
          <p:cNvPr id="9" name="Text 3"/>
          <p:cNvSpPr txBox="1"/>
          <p:nvPr/>
        </p:nvSpPr>
        <p:spPr>
          <a:xfrm>
            <a:off x="9683496" y="4892040"/>
            <a:ext cx="1956816" cy="1097280"/>
          </a:xfrm>
          <a:prstGeom prst="rect">
            <a:avLst/>
          </a:prstGeom>
          <a:noFill/>
          <a:ln/>
        </p:spPr>
        <p:txBody>
          <a:bodyPr wrap="square" lIns="0" tIns="0" rIns="0" bIns="0" rtlCol="0" anchor="t"/>
          <a:lstStyle/>
          <a:p>
            <a:pPr marL="190500" indent="-190500">
              <a:spcAft>
                <a:spcPts val="300"/>
              </a:spcAft>
              <a:buSzPct val="100000"/>
              <a:buChar char="•"/>
            </a:pPr>
            <a:r>
              <a:rPr lang="en-US" sz="1300" dirty="0">
                <a:solidFill>
                  <a:schemeClr val="tx1"/>
                </a:solidFill>
              </a:rPr>
              <a:t>Phone layout down to 360px</a:t>
            </a:r>
            <a:endParaRPr lang="en-US" sz="1300" dirty="0"/>
          </a:p>
          <a:p>
            <a:pPr marL="190500" indent="-190500">
              <a:spcAft>
                <a:spcPts val="300"/>
              </a:spcAft>
              <a:buSzPct val="100000"/>
              <a:buChar char="•"/>
            </a:pPr>
            <a:r>
              <a:rPr lang="en-US" sz="1300" dirty="0">
                <a:solidFill>
                  <a:schemeClr val="tx1"/>
                </a:solidFill>
              </a:rPr>
              <a:t>Summary stacks, chips scroll</a:t>
            </a:r>
            <a:endParaRPr lang="en-US" sz="1300" dirty="0"/>
          </a:p>
          <a:p>
            <a:pPr marL="190500" indent="-190500">
              <a:spcAft>
                <a:spcPts val="300"/>
              </a:spcAft>
              <a:buSzPct val="100000"/>
              <a:buChar char="•"/>
            </a:pPr>
            <a:r>
              <a:rPr lang="en-US" sz="1300" dirty="0">
                <a:solidFill>
                  <a:schemeClr val="tx1"/>
                </a:solidFill>
              </a:rPr>
              <a:t>In-app dialogs, no browser confirm()</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FastAPI backend: 10 endpoints + probes</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1188720"/>
                <a:gridCol w="2514600"/>
                <a:gridCol w="2971800"/>
              </a:tblGrid>
              <a:tr h="365760">
                <a:tc>
                  <a:txBody>
                    <a:bodyPr/>
                    <a:lstStyle/>
                    <a:p>
                      <a:pPr indent="0" marL="0">
                        <a:buNone/>
                      </a:pPr>
                      <a:r>
                        <a:rPr lang="en-US" sz="1200" b="1" dirty="0">
                          <a:solidFill>
                            <a:schemeClr val="bg1"/>
                          </a:solidFill>
                        </a:rPr>
                        <a:t>Method</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Path</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Purpose</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/health  /ready  /metrics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liveness · readiness · metrics</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/api/stats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counts, utilisation %, checkouts this week</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/api/items?status=&amp;q=</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list, filter, search</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POST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/api/items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register (409 on duplicate tag)</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200" b="1" dirty="0">
                          <a:solidFill>
                            <a:schemeClr val="accent1"/>
                          </a:solidFill>
                        </a:rPr>
                        <a:t>PUT · DELETE</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/api/items/{id}</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update · delete (409 while on loan)</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/api/loans?active=</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loan history / open loans</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200" b="1" dirty="0">
                          <a:solidFill>
                            <a:schemeClr val="accent1"/>
                          </a:solidFill>
                        </a:rPr>
                        <a:t>POST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/api/loans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check out (409 if unavailable)</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POST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/api/loans/{id}/return</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check in</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pic>
        <p:nvPicPr>
          <p:cNvPr id="4" name="img-c-swagger.png" descr="c-swagger.png">    </p:cNvPr>
          <p:cNvPicPr>
            <a:picLocks noChangeAspect="1"/>
          </p:cNvPicPr>
          <p:nvPr/>
        </p:nvPicPr>
        <p:blipFill>
          <a:blip r:embed="rId1"/>
          <a:stretch>
            <a:fillRect/>
          </a:stretch>
        </p:blipFill>
        <p:spPr>
          <a:xfrm>
            <a:off x="7498080" y="1325880"/>
            <a:ext cx="4142232" cy="2806776"/>
          </a:xfrm>
          <a:prstGeom prst="rect">
            <a:avLst/>
          </a:prstGeom>
          <a:effectLst>
            <a:outerShdw sx="100000" sy="100000" kx="0" ky="0" algn="bl" rotWithShape="0" blurRad="127000" dist="38100" dir="5400000">
              <a:srgbClr val="3B2A1E">
                <a:alpha val="22000"/>
              </a:srgbClr>
            </a:outerShdw>
          </a:effectLst>
        </p:spPr>
      </p:pic>
      <p:sp>
        <p:nvSpPr>
          <p:cNvPr id="5" name="Text 1"/>
          <p:cNvSpPr txBox="1"/>
          <p:nvPr/>
        </p:nvSpPr>
        <p:spPr>
          <a:xfrm>
            <a:off x="7498080" y="4224096"/>
            <a:ext cx="4142232" cy="274320"/>
          </a:xfrm>
          <a:prstGeom prst="rect">
            <a:avLst/>
          </a:prstGeom>
          <a:noFill/>
          <a:ln/>
        </p:spPr>
        <p:txBody>
          <a:bodyPr wrap="square" lIns="0" tIns="0" rIns="0" bIns="0" rtlCol="0" anchor="t"/>
          <a:lstStyle/>
          <a:p>
            <a:pPr indent="0" marL="0">
              <a:buNone/>
            </a:pPr>
            <a:r>
              <a:rPr lang="en-US" sz="1100" i="1" dirty="0">
                <a:solidFill>
                  <a:schemeClr val="accent6"/>
                </a:solidFill>
              </a:rPr>
              <a:t>Swagger /docs: POST /api/loans → 201 Created</a:t>
            </a:r>
            <a:endParaRPr lang="en-US" sz="1100" dirty="0"/>
          </a:p>
        </p:txBody>
      </p:sp>
      <p:sp>
        <p:nvSpPr>
          <p:cNvPr id="6" name="Text 2"/>
          <p:cNvSpPr txBox="1"/>
          <p:nvPr/>
        </p:nvSpPr>
        <p:spPr>
          <a:xfrm>
            <a:off x="548640" y="5577840"/>
            <a:ext cx="6675120" cy="640080"/>
          </a:xfrm>
          <a:prstGeom prst="rect">
            <a:avLst/>
          </a:prstGeom>
          <a:noFill/>
          <a:ln/>
        </p:spPr>
        <p:txBody>
          <a:bodyPr wrap="square" lIns="0" tIns="0" rIns="0" bIns="0" rtlCol="0" anchor="t"/>
          <a:lstStyle/>
          <a:p>
            <a:pPr indent="0" marL="0">
              <a:buNone/>
            </a:pPr>
            <a:r>
              <a:rPr lang="en-US" sz="1300" dirty="0">
                <a:solidFill>
                  <a:schemeClr val="tx2"/>
                </a:solidFill>
              </a:rPr>
              <a:t>SQLAlchemy 2 models · Pydantic validation · a partial unique index guarantees one open loan per item, even under concurrent checkouts</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Tests: the first quality gate</a:t>
            </a:r>
            <a:endParaRPr lang="en-US" sz="3400" dirty="0"/>
          </a:p>
        </p:txBody>
      </p:sp>
      <p:pic>
        <p:nvPicPr>
          <p:cNvPr id="3" name="img-18-pytest.png" descr="18-pytest.png">    </p:cNvPr>
          <p:cNvPicPr>
            <a:picLocks noChangeAspect="1"/>
          </p:cNvPicPr>
          <p:nvPr/>
        </p:nvPicPr>
        <p:blipFill>
          <a:blip r:embed="rId1"/>
          <a:stretch>
            <a:fillRect/>
          </a:stretch>
        </p:blipFill>
        <p:spPr>
          <a:xfrm>
            <a:off x="1065356" y="1325880"/>
            <a:ext cx="6190327" cy="4892040"/>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8183880" y="1371600"/>
            <a:ext cx="1645920" cy="685800"/>
          </a:xfrm>
          <a:prstGeom prst="rect">
            <a:avLst/>
          </a:prstGeom>
          <a:noFill/>
          <a:ln/>
        </p:spPr>
        <p:txBody>
          <a:bodyPr wrap="square" lIns="0" tIns="0" rIns="0" bIns="0" rtlCol="0" anchor="t"/>
          <a:lstStyle/>
          <a:p>
            <a:pPr indent="0" marL="0">
              <a:buNone/>
            </a:pPr>
            <a:r>
              <a:rPr lang="en-US" sz="4000" b="1" dirty="0">
                <a:solidFill>
                  <a:schemeClr val="accent1"/>
                </a:solidFill>
              </a:rPr>
              <a:t>21</a:t>
            </a:r>
            <a:endParaRPr lang="en-US" sz="4000" dirty="0"/>
          </a:p>
        </p:txBody>
      </p:sp>
      <p:sp>
        <p:nvSpPr>
          <p:cNvPr id="5" name="Text 2"/>
          <p:cNvSpPr txBox="1"/>
          <p:nvPr/>
        </p:nvSpPr>
        <p:spPr>
          <a:xfrm>
            <a:off x="8183880" y="2057400"/>
            <a:ext cx="1645920" cy="457200"/>
          </a:xfrm>
          <a:prstGeom prst="rect">
            <a:avLst/>
          </a:prstGeom>
          <a:noFill/>
          <a:ln/>
        </p:spPr>
        <p:txBody>
          <a:bodyPr wrap="square" lIns="0" tIns="0" rIns="0" bIns="0" rtlCol="0" anchor="t"/>
          <a:lstStyle/>
          <a:p>
            <a:pPr indent="0" marL="0">
              <a:buNone/>
            </a:pPr>
            <a:r>
              <a:rPr lang="en-US" sz="1300" dirty="0">
                <a:solidFill>
                  <a:schemeClr val="tx2"/>
                </a:solidFill>
              </a:rPr>
              <a:t>backend tests (pytest)</a:t>
            </a:r>
            <a:endParaRPr lang="en-US" sz="1300" dirty="0"/>
          </a:p>
        </p:txBody>
      </p:sp>
      <p:sp>
        <p:nvSpPr>
          <p:cNvPr id="6" name="Text 3"/>
          <p:cNvSpPr txBox="1"/>
          <p:nvPr/>
        </p:nvSpPr>
        <p:spPr>
          <a:xfrm>
            <a:off x="10012680" y="1371600"/>
            <a:ext cx="1645920" cy="685800"/>
          </a:xfrm>
          <a:prstGeom prst="rect">
            <a:avLst/>
          </a:prstGeom>
          <a:noFill/>
          <a:ln/>
        </p:spPr>
        <p:txBody>
          <a:bodyPr wrap="square" lIns="0" tIns="0" rIns="0" bIns="0" rtlCol="0" anchor="t"/>
          <a:lstStyle/>
          <a:p>
            <a:pPr indent="0" marL="0">
              <a:buNone/>
            </a:pPr>
            <a:r>
              <a:rPr lang="en-US" sz="4000" b="1" dirty="0">
                <a:solidFill>
                  <a:schemeClr val="accent1"/>
                </a:solidFill>
              </a:rPr>
              <a:t>5</a:t>
            </a:r>
            <a:endParaRPr lang="en-US" sz="4000" dirty="0"/>
          </a:p>
        </p:txBody>
      </p:sp>
      <p:sp>
        <p:nvSpPr>
          <p:cNvPr id="7" name="Text 4"/>
          <p:cNvSpPr txBox="1"/>
          <p:nvPr/>
        </p:nvSpPr>
        <p:spPr>
          <a:xfrm>
            <a:off x="10012680" y="2057400"/>
            <a:ext cx="1645920" cy="457200"/>
          </a:xfrm>
          <a:prstGeom prst="rect">
            <a:avLst/>
          </a:prstGeom>
          <a:noFill/>
          <a:ln/>
        </p:spPr>
        <p:txBody>
          <a:bodyPr wrap="square" lIns="0" tIns="0" rIns="0" bIns="0" rtlCol="0" anchor="t"/>
          <a:lstStyle/>
          <a:p>
            <a:pPr indent="0" marL="0">
              <a:buNone/>
            </a:pPr>
            <a:r>
              <a:rPr lang="en-US" sz="1300" dirty="0">
                <a:solidFill>
                  <a:schemeClr val="tx2"/>
                </a:solidFill>
              </a:rPr>
              <a:t>frontend tests (vitest)</a:t>
            </a:r>
            <a:endParaRPr lang="en-US" sz="1300" dirty="0"/>
          </a:p>
        </p:txBody>
      </p:sp>
      <p:sp>
        <p:nvSpPr>
          <p:cNvPr id="8" name="Text 5"/>
          <p:cNvSpPr txBox="1"/>
          <p:nvPr/>
        </p:nvSpPr>
        <p:spPr>
          <a:xfrm>
            <a:off x="8183880" y="2743200"/>
            <a:ext cx="3459175" cy="3291840"/>
          </a:xfrm>
          <a:prstGeom prst="rect">
            <a:avLst/>
          </a:prstGeom>
          <a:noFill/>
          <a:ln/>
        </p:spPr>
        <p:txBody>
          <a:bodyPr wrap="square" lIns="0" tIns="0" rIns="0" bIns="0" rtlCol="0" anchor="t"/>
          <a:lstStyle/>
          <a:p>
            <a:pPr marL="190500" indent="-190500">
              <a:spcAft>
                <a:spcPts val="700"/>
              </a:spcAft>
              <a:buSzPct val="100000"/>
              <a:buChar char="•"/>
            </a:pPr>
            <a:r>
              <a:rPr lang="en-US" sz="1400" dirty="0">
                <a:solidFill>
                  <a:schemeClr val="tx1"/>
                </a:solidFill>
              </a:rPr>
              <a:t>Tests run on in-memory SQLite: never the real database</a:t>
            </a:r>
            <a:endParaRPr lang="en-US" sz="1400" dirty="0"/>
          </a:p>
          <a:p>
            <a:pPr marL="190500" indent="-190500">
              <a:spcAft>
                <a:spcPts val="700"/>
              </a:spcAft>
              <a:buSzPct val="100000"/>
              <a:buChar char="•"/>
            </a:pPr>
            <a:r>
              <a:rPr lang="en-US" sz="1400" dirty="0">
                <a:solidFill>
                  <a:schemeClr val="tx1"/>
                </a:solidFill>
              </a:rPr>
              <a:t>CI also migrates a real PostgreSQL 17 and runs alembic check to catch model/migration drift</a:t>
            </a:r>
            <a:endParaRPr lang="en-US" sz="1400" dirty="0"/>
          </a:p>
          <a:p>
            <a:pPr marL="190500" indent="-190500">
              <a:spcAft>
                <a:spcPts val="700"/>
              </a:spcAft>
              <a:buSzPct val="100000"/>
              <a:buChar char="•"/>
            </a:pPr>
            <a:r>
              <a:rPr lang="en-US" sz="1400" dirty="0">
                <a:solidFill>
                  <a:schemeClr val="tx1"/>
                </a:solidFill>
              </a:rPr>
              <a:t>ruff lint + format check before anything is built</a:t>
            </a:r>
            <a:endParaRPr lang="en-US" sz="1400" dirty="0"/>
          </a:p>
          <a:p>
            <a:pPr marL="190500" indent="-190500">
              <a:spcAft>
                <a:spcPts val="700"/>
              </a:spcAft>
              <a:buSzPct val="100000"/>
              <a:buChar char="•"/>
            </a:pPr>
            <a:r>
              <a:rPr lang="en-US" sz="1400" dirty="0">
                <a:solidFill>
                  <a:schemeClr val="tx1"/>
                </a:solidFill>
              </a:rPr>
              <a:t>A failing test stops the pipeline: no image is pushed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Docker: one command, four services</a:t>
            </a:r>
            <a:endParaRPr lang="en-US" sz="3400" dirty="0"/>
          </a:p>
        </p:txBody>
      </p:sp>
      <p:pic>
        <p:nvPicPr>
          <p:cNvPr id="3" name="img-20-docker-compose.png" descr="20-docker-compose.png">    </p:cNvPr>
          <p:cNvPicPr>
            <a:picLocks noChangeAspect="1"/>
          </p:cNvPicPr>
          <p:nvPr/>
        </p:nvPicPr>
        <p:blipFill>
          <a:blip r:embed="rId1"/>
          <a:stretch>
            <a:fillRect/>
          </a:stretch>
        </p:blipFill>
        <p:spPr>
          <a:xfrm>
            <a:off x="548640" y="1325880"/>
            <a:ext cx="6675120" cy="4072243"/>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7543800" y="1417320"/>
            <a:ext cx="4099255" cy="4754880"/>
          </a:xfrm>
          <a:prstGeom prst="rect">
            <a:avLst/>
          </a:prstGeom>
          <a:noFill/>
          <a:ln/>
        </p:spPr>
        <p:txBody>
          <a:bodyPr wrap="square" lIns="0" tIns="0" rIns="0" bIns="0" rtlCol="0" anchor="t"/>
          <a:lstStyle/>
          <a:p>
            <a:pPr marL="190500" indent="-190500">
              <a:spcAft>
                <a:spcPts val="700"/>
              </a:spcAft>
              <a:buSzPct val="100000"/>
              <a:buChar char="•"/>
            </a:pPr>
            <a:r>
              <a:rPr lang="en-US" sz="1400" b="1" dirty="0">
                <a:solidFill>
                  <a:schemeClr val="tx1"/>
                </a:solidFill>
              </a:rPr>
              <a:t>Startup order is enforced: </a:t>
            </a:r>
            <a:pPr indent="0" marL="0">
              <a:spcAft>
                <a:spcPts val="700"/>
              </a:spcAft>
              <a:buNone/>
            </a:pPr>
            <a:r>
              <a:rPr lang="en-US" sz="1400" dirty="0">
                <a:solidFill>
                  <a:schemeClr val="tx1"/>
                </a:solidFill>
              </a:rPr>
              <a:t>postgres healthy → migrate exits 0 → backend healthy → frontend</a:t>
            </a:r>
            <a:endParaRPr lang="en-US" sz="1400" dirty="0"/>
          </a:p>
          <a:p>
            <a:pPr marL="190500" indent="-190500">
              <a:spcAft>
                <a:spcPts val="700"/>
              </a:spcAft>
              <a:buSzPct val="100000"/>
              <a:buChar char="•"/>
            </a:pPr>
            <a:r>
              <a:rPr lang="en-US" sz="1400" b="1" dirty="0">
                <a:solidFill>
                  <a:schemeClr val="tx1"/>
                </a:solidFill>
              </a:rPr>
              <a:t>Multi-stage builds: </a:t>
            </a:r>
            <a:pPr indent="0" marL="0">
              <a:spcAft>
                <a:spcPts val="700"/>
              </a:spcAft>
              <a:buNone/>
            </a:pPr>
            <a:r>
              <a:rPr lang="en-US" sz="1400" dirty="0">
                <a:solidFill>
                  <a:schemeClr val="tx1"/>
                </a:solidFill>
              </a:rPr>
              <a:t>Node only in the frontend build stage; backend venv built separately</a:t>
            </a:r>
            <a:endParaRPr lang="en-US" sz="1400" dirty="0"/>
          </a:p>
          <a:p>
            <a:pPr marL="190500" indent="-190500">
              <a:spcAft>
                <a:spcPts val="700"/>
              </a:spcAft>
              <a:buSzPct val="100000"/>
              <a:buChar char="•"/>
            </a:pPr>
            <a:r>
              <a:rPr lang="en-US" sz="1400" b="1" dirty="0">
                <a:solidFill>
                  <a:schemeClr val="tx1"/>
                </a:solidFill>
              </a:rPr>
              <a:t>Non-root: </a:t>
            </a:r>
            <a:pPr indent="0" marL="0">
              <a:spcAft>
                <a:spcPts val="700"/>
              </a:spcAft>
              <a:buNone/>
            </a:pPr>
            <a:r>
              <a:rPr lang="en-US" sz="1400" dirty="0">
                <a:solidFill>
                  <a:schemeClr val="tx1"/>
                </a:solidFill>
              </a:rPr>
              <a:t>backend uid 10001, unprivileged nginx uid 101</a:t>
            </a:r>
            <a:endParaRPr lang="en-US" sz="1400" dirty="0"/>
          </a:p>
          <a:p>
            <a:pPr marL="190500" indent="-190500">
              <a:spcAft>
                <a:spcPts val="700"/>
              </a:spcAft>
              <a:buSzPct val="100000"/>
              <a:buChar char="•"/>
            </a:pPr>
            <a:r>
              <a:rPr lang="en-US" sz="1400" b="1" dirty="0">
                <a:solidFill>
                  <a:schemeClr val="tx1"/>
                </a:solidFill>
              </a:rPr>
              <a:t>No pip at runtime: </a:t>
            </a:r>
            <a:pPr indent="0" marL="0">
              <a:spcAft>
                <a:spcPts val="700"/>
              </a:spcAft>
              <a:buNone/>
            </a:pPr>
            <a:r>
              <a:rPr lang="en-US" sz="1400" dirty="0">
                <a:solidFill>
                  <a:schemeClr val="tx1"/>
                </a:solidFill>
              </a:rPr>
              <a:t>removes its vendored CVEs (next slides)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CI/CD pipeline (GitHub Actions)</a:t>
            </a:r>
            <a:endParaRPr lang="en-US" sz="3400" dirty="0"/>
          </a:p>
        </p:txBody>
      </p:sp>
      <p:sp>
        <p:nvSpPr>
          <p:cNvPr id="3" name="box-backend"/>
          <p:cNvSpPr/>
          <p:nvPr/>
        </p:nvSpPr>
        <p:spPr>
          <a:xfrm>
            <a:off x="548640" y="1463040"/>
            <a:ext cx="2377440" cy="685800"/>
          </a:xfrm>
          <a:prstGeom prst="roundRect">
            <a:avLst>
              <a:gd name="adj" fmla="val 10667"/>
            </a:avLst>
          </a:prstGeom>
          <a:solidFill>
            <a:schemeClr val="bg2"/>
          </a:solidFill>
          <a:ln w="12700">
            <a:solidFill>
              <a:schemeClr val="bg2"/>
            </a:solidFill>
            <a:prstDash val="solid"/>
          </a:ln>
        </p:spPr>
      </p:sp>
      <p:sp>
        <p:nvSpPr>
          <p:cNvPr id="4" name="Text 2"/>
          <p:cNvSpPr txBox="1"/>
          <p:nvPr/>
        </p:nvSpPr>
        <p:spPr>
          <a:xfrm>
            <a:off x="548640" y="1463040"/>
            <a:ext cx="23774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backend</a:t>
            </a:r>
            <a:endParaRPr lang="en-US" sz="1400" dirty="0"/>
          </a:p>
          <a:p>
            <a:pPr algn="ctr" indent="0" marL="0">
              <a:buNone/>
            </a:pPr>
            <a:r>
              <a:rPr lang="en-US" sz="1100" dirty="0">
                <a:solidFill>
                  <a:schemeClr val="tx2"/>
                </a:solidFill>
              </a:rPr>
              <a:t>ruff · migrate · pytest</a:t>
            </a:r>
            <a:endParaRPr lang="en-US" sz="1400" dirty="0"/>
          </a:p>
        </p:txBody>
      </p:sp>
      <p:sp>
        <p:nvSpPr>
          <p:cNvPr id="5" name="box-frontend"/>
          <p:cNvSpPr/>
          <p:nvPr/>
        </p:nvSpPr>
        <p:spPr>
          <a:xfrm>
            <a:off x="548640" y="2331720"/>
            <a:ext cx="2377440" cy="685800"/>
          </a:xfrm>
          <a:prstGeom prst="roundRect">
            <a:avLst>
              <a:gd name="adj" fmla="val 10667"/>
            </a:avLst>
          </a:prstGeom>
          <a:solidFill>
            <a:schemeClr val="bg2"/>
          </a:solidFill>
          <a:ln w="12700">
            <a:solidFill>
              <a:schemeClr val="bg2"/>
            </a:solidFill>
            <a:prstDash val="solid"/>
          </a:ln>
        </p:spPr>
      </p:sp>
      <p:sp>
        <p:nvSpPr>
          <p:cNvPr id="6" name="Text 4"/>
          <p:cNvSpPr txBox="1"/>
          <p:nvPr/>
        </p:nvSpPr>
        <p:spPr>
          <a:xfrm>
            <a:off x="548640" y="2331720"/>
            <a:ext cx="23774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frontend</a:t>
            </a:r>
            <a:endParaRPr lang="en-US" sz="1400" dirty="0"/>
          </a:p>
          <a:p>
            <a:pPr algn="ctr" indent="0" marL="0">
              <a:buNone/>
            </a:pPr>
            <a:r>
              <a:rPr lang="en-US" sz="1100" dirty="0">
                <a:solidFill>
                  <a:schemeClr val="tx2"/>
                </a:solidFill>
              </a:rPr>
              <a:t>vitest · vite build</a:t>
            </a:r>
            <a:endParaRPr lang="en-US" sz="1400" dirty="0"/>
          </a:p>
        </p:txBody>
      </p:sp>
      <p:sp>
        <p:nvSpPr>
          <p:cNvPr id="7" name="box-infra"/>
          <p:cNvSpPr/>
          <p:nvPr/>
        </p:nvSpPr>
        <p:spPr>
          <a:xfrm>
            <a:off x="548640" y="3200400"/>
            <a:ext cx="2377440" cy="685800"/>
          </a:xfrm>
          <a:prstGeom prst="roundRect">
            <a:avLst>
              <a:gd name="adj" fmla="val 10667"/>
            </a:avLst>
          </a:prstGeom>
          <a:solidFill>
            <a:schemeClr val="bg2"/>
          </a:solidFill>
          <a:ln w="12700">
            <a:solidFill>
              <a:schemeClr val="bg2"/>
            </a:solidFill>
            <a:prstDash val="solid"/>
          </a:ln>
        </p:spPr>
      </p:sp>
      <p:sp>
        <p:nvSpPr>
          <p:cNvPr id="8" name="Text 6"/>
          <p:cNvSpPr txBox="1"/>
          <p:nvPr/>
        </p:nvSpPr>
        <p:spPr>
          <a:xfrm>
            <a:off x="548640" y="3200400"/>
            <a:ext cx="23774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infra</a:t>
            </a:r>
            <a:endParaRPr lang="en-US" sz="1400" dirty="0"/>
          </a:p>
          <a:p>
            <a:pPr algn="ctr" indent="0" marL="0">
              <a:buNone/>
            </a:pPr>
            <a:r>
              <a:rPr lang="en-US" sz="1100" dirty="0">
                <a:solidFill>
                  <a:schemeClr val="tx2"/>
                </a:solidFill>
              </a:rPr>
              <a:t>helm lint · terraform validate</a:t>
            </a:r>
            <a:endParaRPr lang="en-US" sz="1400" dirty="0"/>
          </a:p>
        </p:txBody>
      </p:sp>
      <p:sp>
        <p:nvSpPr>
          <p:cNvPr id="9" name="box-images  (matrix: backend, frontend)"/>
          <p:cNvSpPr/>
          <p:nvPr/>
        </p:nvSpPr>
        <p:spPr>
          <a:xfrm>
            <a:off x="3749040" y="1965960"/>
            <a:ext cx="4206240" cy="1417320"/>
          </a:xfrm>
          <a:prstGeom prst="roundRect">
            <a:avLst>
              <a:gd name="adj" fmla="val 5161"/>
            </a:avLst>
          </a:prstGeom>
          <a:solidFill>
            <a:schemeClr val="tx1"/>
          </a:solidFill>
          <a:ln w="12700">
            <a:solidFill>
              <a:schemeClr val="tx1"/>
            </a:solidFill>
            <a:prstDash val="solid"/>
          </a:ln>
        </p:spPr>
      </p:sp>
      <p:sp>
        <p:nvSpPr>
          <p:cNvPr id="10" name="Text 8"/>
          <p:cNvSpPr txBox="1"/>
          <p:nvPr/>
        </p:nvSpPr>
        <p:spPr>
          <a:xfrm>
            <a:off x="3749040" y="1965960"/>
            <a:ext cx="4206240" cy="1417320"/>
          </a:xfrm>
          <a:prstGeom prst="rect">
            <a:avLst/>
          </a:prstGeom>
          <a:noFill/>
          <a:ln/>
        </p:spPr>
        <p:txBody>
          <a:bodyPr wrap="square" lIns="635" tIns="635" rIns="635" bIns="635" rtlCol="0" anchor="ctr"/>
          <a:lstStyle/>
          <a:p>
            <a:pPr algn="ctr" indent="0" marL="0">
              <a:buNone/>
            </a:pPr>
            <a:r>
              <a:rPr lang="en-US" sz="1500" b="1" dirty="0">
                <a:solidFill>
                  <a:schemeClr val="bg1"/>
                </a:solidFill>
              </a:rPr>
              <a:t>images  (matrix: backend, frontend)</a:t>
            </a:r>
            <a:endParaRPr lang="en-US" sz="1500" dirty="0"/>
          </a:p>
          <a:p>
            <a:pPr algn="ctr" indent="0" marL="0">
              <a:buNone/>
            </a:pPr>
            <a:r>
              <a:rPr lang="en-US" sz="1200" dirty="0">
                <a:solidFill>
                  <a:schemeClr val="bg2"/>
                </a:solidFill>
              </a:rPr>
              <a:t>buildx → Trivy SARIF → Trivy gate → push ghcr.io/…:&lt;sha&gt;</a:t>
            </a:r>
            <a:endParaRPr lang="en-US" sz="1500" dirty="0"/>
          </a:p>
        </p:txBody>
      </p:sp>
      <p:sp>
        <p:nvSpPr>
          <p:cNvPr id="11" name="box-gitops  (main only)"/>
          <p:cNvSpPr/>
          <p:nvPr/>
        </p:nvSpPr>
        <p:spPr>
          <a:xfrm>
            <a:off x="8778240" y="1965960"/>
            <a:ext cx="2862072" cy="1417320"/>
          </a:xfrm>
          <a:prstGeom prst="roundRect">
            <a:avLst>
              <a:gd name="adj" fmla="val 5161"/>
            </a:avLst>
          </a:prstGeom>
          <a:solidFill>
            <a:schemeClr val="bg2"/>
          </a:solidFill>
          <a:ln w="12700">
            <a:solidFill>
              <a:schemeClr val="bg2"/>
            </a:solidFill>
            <a:prstDash val="solid"/>
          </a:ln>
        </p:spPr>
      </p:sp>
      <p:sp>
        <p:nvSpPr>
          <p:cNvPr id="12" name="Text 10"/>
          <p:cNvSpPr txBox="1"/>
          <p:nvPr/>
        </p:nvSpPr>
        <p:spPr>
          <a:xfrm>
            <a:off x="8778240" y="1965960"/>
            <a:ext cx="2862072" cy="1417320"/>
          </a:xfrm>
          <a:prstGeom prst="rect">
            <a:avLst/>
          </a:prstGeom>
          <a:noFill/>
          <a:ln/>
        </p:spPr>
        <p:txBody>
          <a:bodyPr wrap="square" lIns="635" tIns="635" rIns="635" bIns="635" rtlCol="0" anchor="ctr"/>
          <a:lstStyle/>
          <a:p>
            <a:pPr algn="ctr" indent="0" marL="0">
              <a:buNone/>
            </a:pPr>
            <a:r>
              <a:rPr lang="en-US" sz="1500" b="1" dirty="0">
                <a:solidFill>
                  <a:schemeClr val="tx1"/>
                </a:solidFill>
              </a:rPr>
              <a:t>gitops  (main only)</a:t>
            </a:r>
            <a:endParaRPr lang="en-US" sz="1500" dirty="0"/>
          </a:p>
          <a:p>
            <a:pPr algn="ctr" indent="0" marL="0">
              <a:buNone/>
            </a:pPr>
            <a:r>
              <a:rPr lang="en-US" sz="1200" dirty="0">
                <a:solidFill>
                  <a:schemeClr val="tx2"/>
                </a:solidFill>
              </a:rPr>
              <a:t>commit the SHA tags to values-gitops.yaml [skip ci] → Argo CD syncs</a:t>
            </a:r>
            <a:endParaRPr lang="en-US" sz="1500" dirty="0"/>
          </a:p>
        </p:txBody>
      </p:sp>
      <p:sp>
        <p:nvSpPr>
          <p:cNvPr id="13" name="arrow"/>
          <p:cNvSpPr/>
          <p:nvPr/>
        </p:nvSpPr>
        <p:spPr>
          <a:xfrm>
            <a:off x="2926080" y="1805940"/>
            <a:ext cx="822960" cy="868680"/>
          </a:xfrm>
          <a:prstGeom prst="line">
            <a:avLst/>
          </a:prstGeom>
          <a:noFill/>
          <a:ln w="19050">
            <a:solidFill>
              <a:srgbClr val="8A7F73"/>
            </a:solidFill>
            <a:prstDash val="solid"/>
            <a:tailEnd type="triangle"/>
          </a:ln>
        </p:spPr>
      </p:sp>
      <p:sp>
        <p:nvSpPr>
          <p:cNvPr id="14" name="arrow"/>
          <p:cNvSpPr/>
          <p:nvPr/>
        </p:nvSpPr>
        <p:spPr>
          <a:xfrm>
            <a:off x="2926080" y="2674620"/>
            <a:ext cx="822960" cy="914"/>
          </a:xfrm>
          <a:prstGeom prst="line">
            <a:avLst/>
          </a:prstGeom>
          <a:noFill/>
          <a:ln w="19050">
            <a:solidFill>
              <a:srgbClr val="8A7F73"/>
            </a:solidFill>
            <a:prstDash val="solid"/>
            <a:tailEnd type="triangle"/>
          </a:ln>
        </p:spPr>
      </p:sp>
      <p:sp>
        <p:nvSpPr>
          <p:cNvPr id="15" name="arrow"/>
          <p:cNvSpPr/>
          <p:nvPr/>
        </p:nvSpPr>
        <p:spPr>
          <a:xfrm flipV="1">
            <a:off x="2926080" y="2674620"/>
            <a:ext cx="822960" cy="868680"/>
          </a:xfrm>
          <a:prstGeom prst="line">
            <a:avLst/>
          </a:prstGeom>
          <a:noFill/>
          <a:ln w="19050">
            <a:solidFill>
              <a:srgbClr val="8A7F73"/>
            </a:solidFill>
            <a:prstDash val="solid"/>
            <a:tailEnd type="triangle"/>
          </a:ln>
        </p:spPr>
      </p:sp>
      <p:sp>
        <p:nvSpPr>
          <p:cNvPr id="16" name="arrow"/>
          <p:cNvSpPr/>
          <p:nvPr/>
        </p:nvSpPr>
        <p:spPr>
          <a:xfrm>
            <a:off x="7955280" y="2674620"/>
            <a:ext cx="822960" cy="914"/>
          </a:xfrm>
          <a:prstGeom prst="line">
            <a:avLst/>
          </a:prstGeom>
          <a:noFill/>
          <a:ln w="19050">
            <a:solidFill>
              <a:srgbClr val="8A7F73"/>
            </a:solidFill>
            <a:prstDash val="solid"/>
            <a:tailEnd type="triangle"/>
          </a:ln>
        </p:spPr>
      </p:sp>
      <p:sp>
        <p:nvSpPr>
          <p:cNvPr id="17" name="fact"/>
          <p:cNvSpPr/>
          <p:nvPr/>
        </p:nvSpPr>
        <p:spPr>
          <a:xfrm>
            <a:off x="548640" y="4343400"/>
            <a:ext cx="2567864" cy="1783080"/>
          </a:xfrm>
          <a:prstGeom prst="roundRect">
            <a:avLst>
              <a:gd name="adj" fmla="val 4103"/>
            </a:avLst>
          </a:prstGeom>
          <a:solidFill>
            <a:schemeClr val="bg2"/>
          </a:solidFill>
          <a:ln w="12700">
            <a:solidFill>
              <a:schemeClr val="bg2"/>
            </a:solidFill>
            <a:prstDash val="solid"/>
          </a:ln>
        </p:spPr>
      </p:sp>
      <p:sp>
        <p:nvSpPr>
          <p:cNvPr id="18" name="badge-FaTag"/>
          <p:cNvSpPr/>
          <p:nvPr/>
        </p:nvSpPr>
        <p:spPr>
          <a:xfrm>
            <a:off x="731520" y="4526280"/>
            <a:ext cx="411480" cy="411480"/>
          </a:xfrm>
          <a:prstGeom prst="ellipse">
            <a:avLst/>
          </a:prstGeom>
          <a:solidFill>
            <a:schemeClr val="accent1"/>
          </a:solidFill>
          <a:ln w="12700">
            <a:solidFill>
              <a:schemeClr val="accent1"/>
            </a:solidFill>
            <a:prstDash val="solid"/>
          </a:ln>
        </p:spPr>
      </p:sp>
      <p:pic>
        <p:nvPicPr>
          <p:cNvPr id="19" name="icon-FaTag" descr="preencoded.png">    </p:cNvPr>
          <p:cNvPicPr>
            <a:picLocks noChangeAspect="1"/>
          </p:cNvPicPr>
          <p:nvPr/>
        </p:nvPicPr>
        <p:blipFill>
          <a:blip r:embed="rId1"/>
          <a:stretch>
            <a:fillRect/>
          </a:stretch>
        </p:blipFill>
        <p:spPr>
          <a:xfrm>
            <a:off x="830275" y="4625035"/>
            <a:ext cx="213970" cy="213970"/>
          </a:xfrm>
          <a:prstGeom prst="rect">
            <a:avLst/>
          </a:prstGeom>
        </p:spPr>
      </p:pic>
      <p:sp>
        <p:nvSpPr>
          <p:cNvPr id="20" name="Text 17"/>
          <p:cNvSpPr txBox="1"/>
          <p:nvPr/>
        </p:nvSpPr>
        <p:spPr>
          <a:xfrm>
            <a:off x="1280160"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Commit-SHA tags</a:t>
            </a:r>
            <a:endParaRPr lang="en-US" sz="1400" dirty="0"/>
          </a:p>
        </p:txBody>
      </p:sp>
      <p:sp>
        <p:nvSpPr>
          <p:cNvPr id="21" name="Text 18"/>
          <p:cNvSpPr txBox="1"/>
          <p:nvPr/>
        </p:nvSpPr>
        <p:spPr>
          <a:xfrm>
            <a:off x="731520"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every image traces back to one commit; never :latest</a:t>
            </a:r>
            <a:endParaRPr lang="en-US" sz="1200" dirty="0"/>
          </a:p>
        </p:txBody>
      </p:sp>
      <p:sp>
        <p:nvSpPr>
          <p:cNvPr id="22" name="fact"/>
          <p:cNvSpPr/>
          <p:nvPr/>
        </p:nvSpPr>
        <p:spPr>
          <a:xfrm>
            <a:off x="3390824" y="4343400"/>
            <a:ext cx="2567864" cy="1783080"/>
          </a:xfrm>
          <a:prstGeom prst="roundRect">
            <a:avLst>
              <a:gd name="adj" fmla="val 4103"/>
            </a:avLst>
          </a:prstGeom>
          <a:solidFill>
            <a:schemeClr val="bg2"/>
          </a:solidFill>
          <a:ln w="12700">
            <a:solidFill>
              <a:schemeClr val="bg2"/>
            </a:solidFill>
            <a:prstDash val="solid"/>
          </a:ln>
        </p:spPr>
      </p:sp>
      <p:sp>
        <p:nvSpPr>
          <p:cNvPr id="23" name="badge-FaLock"/>
          <p:cNvSpPr/>
          <p:nvPr/>
        </p:nvSpPr>
        <p:spPr>
          <a:xfrm>
            <a:off x="3573704" y="4526280"/>
            <a:ext cx="411480" cy="411480"/>
          </a:xfrm>
          <a:prstGeom prst="ellipse">
            <a:avLst/>
          </a:prstGeom>
          <a:solidFill>
            <a:schemeClr val="accent1"/>
          </a:solidFill>
          <a:ln w="12700">
            <a:solidFill>
              <a:schemeClr val="accent1"/>
            </a:solidFill>
            <a:prstDash val="solid"/>
          </a:ln>
        </p:spPr>
      </p:sp>
      <p:pic>
        <p:nvPicPr>
          <p:cNvPr id="24" name="icon-FaLock" descr="preencoded.png">    </p:cNvPr>
          <p:cNvPicPr>
            <a:picLocks noChangeAspect="1"/>
          </p:cNvPicPr>
          <p:nvPr/>
        </p:nvPicPr>
        <p:blipFill>
          <a:blip r:embed="rId2"/>
          <a:stretch>
            <a:fillRect/>
          </a:stretch>
        </p:blipFill>
        <p:spPr>
          <a:xfrm>
            <a:off x="3672459" y="4625035"/>
            <a:ext cx="213970" cy="213970"/>
          </a:xfrm>
          <a:prstGeom prst="rect">
            <a:avLst/>
          </a:prstGeom>
        </p:spPr>
      </p:pic>
      <p:sp>
        <p:nvSpPr>
          <p:cNvPr id="25" name="Text 21"/>
          <p:cNvSpPr txBox="1"/>
          <p:nvPr/>
        </p:nvSpPr>
        <p:spPr>
          <a:xfrm>
            <a:off x="4122344"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Actions pinned to SHAs</a:t>
            </a:r>
            <a:endParaRPr lang="en-US" sz="1400" dirty="0"/>
          </a:p>
        </p:txBody>
      </p:sp>
      <p:sp>
        <p:nvSpPr>
          <p:cNvPr id="26" name="Text 22"/>
          <p:cNvSpPr txBox="1"/>
          <p:nvPr/>
        </p:nvSpPr>
        <p:spPr>
          <a:xfrm>
            <a:off x="3573704"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a moved or hijacked tag cannot change what runs</a:t>
            </a:r>
            <a:endParaRPr lang="en-US" sz="1200" dirty="0"/>
          </a:p>
        </p:txBody>
      </p:sp>
      <p:sp>
        <p:nvSpPr>
          <p:cNvPr id="27" name="fact"/>
          <p:cNvSpPr/>
          <p:nvPr/>
        </p:nvSpPr>
        <p:spPr>
          <a:xfrm>
            <a:off x="6233008" y="4343400"/>
            <a:ext cx="2567864" cy="1783080"/>
          </a:xfrm>
          <a:prstGeom prst="roundRect">
            <a:avLst>
              <a:gd name="adj" fmla="val 4103"/>
            </a:avLst>
          </a:prstGeom>
          <a:solidFill>
            <a:schemeClr val="bg2"/>
          </a:solidFill>
          <a:ln w="12700">
            <a:solidFill>
              <a:schemeClr val="bg2"/>
            </a:solidFill>
            <a:prstDash val="solid"/>
          </a:ln>
        </p:spPr>
      </p:sp>
      <p:sp>
        <p:nvSpPr>
          <p:cNvPr id="28" name="badge-FaCodeBranch"/>
          <p:cNvSpPr/>
          <p:nvPr/>
        </p:nvSpPr>
        <p:spPr>
          <a:xfrm>
            <a:off x="6415888" y="4526280"/>
            <a:ext cx="411480" cy="411480"/>
          </a:xfrm>
          <a:prstGeom prst="ellipse">
            <a:avLst/>
          </a:prstGeom>
          <a:solidFill>
            <a:schemeClr val="accent1"/>
          </a:solidFill>
          <a:ln w="12700">
            <a:solidFill>
              <a:schemeClr val="accent1"/>
            </a:solidFill>
            <a:prstDash val="solid"/>
          </a:ln>
        </p:spPr>
      </p:sp>
      <p:pic>
        <p:nvPicPr>
          <p:cNvPr id="29" name="icon-FaCodeBranch" descr="preencoded.png">    </p:cNvPr>
          <p:cNvPicPr>
            <a:picLocks noChangeAspect="1"/>
          </p:cNvPicPr>
          <p:nvPr/>
        </p:nvPicPr>
        <p:blipFill>
          <a:blip r:embed="rId3"/>
          <a:stretch>
            <a:fillRect/>
          </a:stretch>
        </p:blipFill>
        <p:spPr>
          <a:xfrm>
            <a:off x="6514643" y="4625035"/>
            <a:ext cx="213970" cy="213970"/>
          </a:xfrm>
          <a:prstGeom prst="rect">
            <a:avLst/>
          </a:prstGeom>
        </p:spPr>
      </p:pic>
      <p:sp>
        <p:nvSpPr>
          <p:cNvPr id="30" name="Text 25"/>
          <p:cNvSpPr txBox="1"/>
          <p:nvPr/>
        </p:nvSpPr>
        <p:spPr>
          <a:xfrm>
            <a:off x="6964528"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PRs build, main ships</a:t>
            </a:r>
            <a:endParaRPr lang="en-US" sz="1400" dirty="0"/>
          </a:p>
        </p:txBody>
      </p:sp>
      <p:sp>
        <p:nvSpPr>
          <p:cNvPr id="31" name="Text 26"/>
          <p:cNvSpPr txBox="1"/>
          <p:nvPr/>
        </p:nvSpPr>
        <p:spPr>
          <a:xfrm>
            <a:off x="6415888"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images are pushed only from main</a:t>
            </a:r>
            <a:endParaRPr lang="en-US" sz="1200" dirty="0"/>
          </a:p>
        </p:txBody>
      </p:sp>
      <p:sp>
        <p:nvSpPr>
          <p:cNvPr id="32" name="fact"/>
          <p:cNvSpPr/>
          <p:nvPr/>
        </p:nvSpPr>
        <p:spPr>
          <a:xfrm>
            <a:off x="9075191" y="4343400"/>
            <a:ext cx="2567864" cy="1783080"/>
          </a:xfrm>
          <a:prstGeom prst="roundRect">
            <a:avLst>
              <a:gd name="adj" fmla="val 4103"/>
            </a:avLst>
          </a:prstGeom>
          <a:solidFill>
            <a:schemeClr val="bg2"/>
          </a:solidFill>
          <a:ln w="12700">
            <a:solidFill>
              <a:schemeClr val="bg2"/>
            </a:solidFill>
            <a:prstDash val="solid"/>
          </a:ln>
        </p:spPr>
      </p:sp>
      <p:sp>
        <p:nvSpPr>
          <p:cNvPr id="33" name="badge-FaShieldHalved"/>
          <p:cNvSpPr/>
          <p:nvPr/>
        </p:nvSpPr>
        <p:spPr>
          <a:xfrm>
            <a:off x="9258071" y="4526280"/>
            <a:ext cx="411480" cy="411480"/>
          </a:xfrm>
          <a:prstGeom prst="ellipse">
            <a:avLst/>
          </a:prstGeom>
          <a:solidFill>
            <a:schemeClr val="accent1"/>
          </a:solidFill>
          <a:ln w="12700">
            <a:solidFill>
              <a:schemeClr val="accent1"/>
            </a:solidFill>
            <a:prstDash val="solid"/>
          </a:ln>
        </p:spPr>
      </p:sp>
      <p:pic>
        <p:nvPicPr>
          <p:cNvPr id="34" name="icon-FaShieldHalved" descr="preencoded.png">    </p:cNvPr>
          <p:cNvPicPr>
            <a:picLocks noChangeAspect="1"/>
          </p:cNvPicPr>
          <p:nvPr/>
        </p:nvPicPr>
        <p:blipFill>
          <a:blip r:embed="rId4"/>
          <a:stretch>
            <a:fillRect/>
          </a:stretch>
        </p:blipFill>
        <p:spPr>
          <a:xfrm>
            <a:off x="9356827" y="4625035"/>
            <a:ext cx="213970" cy="213970"/>
          </a:xfrm>
          <a:prstGeom prst="rect">
            <a:avLst/>
          </a:prstGeom>
        </p:spPr>
      </p:pic>
      <p:sp>
        <p:nvSpPr>
          <p:cNvPr id="35" name="Text 29"/>
          <p:cNvSpPr txBox="1"/>
          <p:nvPr/>
        </p:nvSpPr>
        <p:spPr>
          <a:xfrm>
            <a:off x="9806711"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Pull-based deploy</a:t>
            </a:r>
            <a:endParaRPr lang="en-US" sz="1400" dirty="0"/>
          </a:p>
        </p:txBody>
      </p:sp>
      <p:sp>
        <p:nvSpPr>
          <p:cNvPr id="36" name="Text 30"/>
          <p:cNvSpPr txBox="1"/>
          <p:nvPr/>
        </p:nvSpPr>
        <p:spPr>
          <a:xfrm>
            <a:off x="9258071"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CI never holds cluster credentials; Argo CD pulls from Git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DevSecOps: the Trivy gate earned its place</a:t>
            </a:r>
            <a:endParaRPr lang="en-US" sz="3400" dirty="0"/>
          </a:p>
        </p:txBody>
      </p:sp>
      <p:sp>
        <p:nvSpPr>
          <p:cNvPr id="3" name="Text 1"/>
          <p:cNvSpPr txBox="1"/>
          <p:nvPr/>
        </p:nvSpPr>
        <p:spPr>
          <a:xfrm>
            <a:off x="548640" y="1463040"/>
            <a:ext cx="2926080" cy="822960"/>
          </a:xfrm>
          <a:prstGeom prst="rect">
            <a:avLst/>
          </a:prstGeom>
          <a:noFill/>
          <a:ln/>
        </p:spPr>
        <p:txBody>
          <a:bodyPr wrap="square" lIns="0" tIns="0" rIns="0" bIns="0" rtlCol="0" anchor="t"/>
          <a:lstStyle/>
          <a:p>
            <a:pPr indent="0" marL="0">
              <a:buNone/>
            </a:pPr>
            <a:r>
              <a:rPr lang="en-US" sz="5400" b="1" dirty="0">
                <a:solidFill>
                  <a:schemeClr val="accent4"/>
                </a:solidFill>
              </a:rPr>
              <a:t>4 HIGH</a:t>
            </a:r>
            <a:endParaRPr lang="en-US" sz="5400" dirty="0"/>
          </a:p>
        </p:txBody>
      </p:sp>
      <p:sp>
        <p:nvSpPr>
          <p:cNvPr id="4" name="Text 2"/>
          <p:cNvSpPr txBox="1"/>
          <p:nvPr/>
        </p:nvSpPr>
        <p:spPr>
          <a:xfrm>
            <a:off x="3429000" y="1463040"/>
            <a:ext cx="640080" cy="822960"/>
          </a:xfrm>
          <a:prstGeom prst="rect">
            <a:avLst/>
          </a:prstGeom>
          <a:noFill/>
          <a:ln/>
        </p:spPr>
        <p:txBody>
          <a:bodyPr wrap="square" lIns="0" tIns="0" rIns="0" bIns="0" rtlCol="0" anchor="t"/>
          <a:lstStyle/>
          <a:p>
            <a:pPr algn="ctr" indent="0" marL="0">
              <a:buNone/>
            </a:pPr>
            <a:r>
              <a:rPr lang="en-US" sz="4800" dirty="0">
                <a:solidFill>
                  <a:schemeClr val="accent6"/>
                </a:solidFill>
              </a:rPr>
              <a:t>→</a:t>
            </a:r>
            <a:endParaRPr lang="en-US" sz="4800" dirty="0"/>
          </a:p>
        </p:txBody>
      </p:sp>
      <p:sp>
        <p:nvSpPr>
          <p:cNvPr id="5" name="Text 3"/>
          <p:cNvSpPr txBox="1"/>
          <p:nvPr/>
        </p:nvSpPr>
        <p:spPr>
          <a:xfrm>
            <a:off x="4114800" y="1463040"/>
            <a:ext cx="1097280" cy="822960"/>
          </a:xfrm>
          <a:prstGeom prst="rect">
            <a:avLst/>
          </a:prstGeom>
          <a:noFill/>
          <a:ln/>
        </p:spPr>
        <p:txBody>
          <a:bodyPr wrap="square" lIns="0" tIns="0" rIns="0" bIns="0" rtlCol="0" anchor="t"/>
          <a:lstStyle/>
          <a:p>
            <a:pPr indent="0" marL="0">
              <a:buNone/>
            </a:pPr>
            <a:r>
              <a:rPr lang="en-US" sz="5400" b="1" dirty="0">
                <a:solidFill>
                  <a:schemeClr val="accent2"/>
                </a:solidFill>
              </a:rPr>
              <a:t>0</a:t>
            </a:r>
            <a:endParaRPr lang="en-US" sz="5400" dirty="0"/>
          </a:p>
        </p:txBody>
      </p:sp>
      <p:sp>
        <p:nvSpPr>
          <p:cNvPr id="6" name="Text 4"/>
          <p:cNvSpPr txBox="1"/>
          <p:nvPr/>
        </p:nvSpPr>
        <p:spPr>
          <a:xfrm>
            <a:off x="548640" y="2286000"/>
            <a:ext cx="4754880" cy="365760"/>
          </a:xfrm>
          <a:prstGeom prst="rect">
            <a:avLst/>
          </a:prstGeom>
          <a:noFill/>
          <a:ln/>
        </p:spPr>
        <p:txBody>
          <a:bodyPr wrap="square" lIns="0" tIns="0" rIns="0" bIns="0" rtlCol="0" anchor="t"/>
          <a:lstStyle/>
          <a:p>
            <a:pPr indent="0" marL="0">
              <a:buNone/>
            </a:pPr>
            <a:r>
              <a:rPr lang="en-US" sz="1400" dirty="0">
                <a:solidFill>
                  <a:schemeClr val="tx2"/>
                </a:solidFill>
              </a:rPr>
              <a:t>fixable HIGH / CRITICAL CVEs in the backend image</a:t>
            </a:r>
            <a:endParaRPr lang="en-US" sz="1400" dirty="0"/>
          </a:p>
        </p:txBody>
      </p:sp>
      <p:sp>
        <p:nvSpPr>
          <p:cNvPr id="7" name="Text 5"/>
          <p:cNvSpPr txBox="1"/>
          <p:nvPr/>
        </p:nvSpPr>
        <p:spPr>
          <a:xfrm>
            <a:off x="548640" y="2880360"/>
            <a:ext cx="4937760" cy="3291840"/>
          </a:xfrm>
          <a:prstGeom prst="rect">
            <a:avLst/>
          </a:prstGeom>
          <a:noFill/>
          <a:ln/>
        </p:spPr>
        <p:txBody>
          <a:bodyPr wrap="square" lIns="0" tIns="0" rIns="0" bIns="0" rtlCol="0" anchor="t"/>
          <a:lstStyle/>
          <a:p>
            <a:pPr marL="190500" indent="-190500">
              <a:spcAft>
                <a:spcPts val="700"/>
              </a:spcAft>
              <a:buSzPct val="100000"/>
              <a:buChar char="•"/>
            </a:pPr>
            <a:r>
              <a:rPr lang="en-US" sz="1400" dirty="0">
                <a:solidFill>
                  <a:schemeClr val="tx1"/>
                </a:solidFill>
              </a:rPr>
              <a:t>First backend build failed the gate: urllib3 (×2), msgpack, setuptools</a:t>
            </a:r>
            <a:endParaRPr lang="en-US" sz="1400" dirty="0"/>
          </a:p>
          <a:p>
            <a:pPr marL="190500" indent="-190500">
              <a:spcAft>
                <a:spcPts val="700"/>
              </a:spcAft>
              <a:buSzPct val="100000"/>
              <a:buChar char="•"/>
            </a:pPr>
            <a:r>
              <a:rPr lang="en-US" sz="1400" dirty="0">
                <a:solidFill>
                  <a:schemeClr val="tx1"/>
                </a:solidFill>
              </a:rPr>
              <a:t>None were GearLoop dependencies: all were copies vendored inside pip itself</a:t>
            </a:r>
            <a:endParaRPr lang="en-US" sz="1400" dirty="0"/>
          </a:p>
          <a:p>
            <a:pPr marL="190500" indent="-190500">
              <a:spcAft>
                <a:spcPts val="700"/>
              </a:spcAft>
              <a:buSzPct val="100000"/>
              <a:buChar char="•"/>
            </a:pPr>
            <a:r>
              <a:rPr lang="en-US" sz="1400" dirty="0">
                <a:solidFill>
                  <a:schemeClr val="tx1"/>
                </a:solidFill>
              </a:rPr>
              <a:t>The app never runs pip, so the fix was to remove pip from the runtime image, not to ignore the findings</a:t>
            </a:r>
            <a:endParaRPr lang="en-US" sz="1400" dirty="0"/>
          </a:p>
          <a:p>
            <a:pPr marL="190500" indent="-190500">
              <a:spcAft>
                <a:spcPts val="700"/>
              </a:spcAft>
              <a:buSzPct val="100000"/>
              <a:buChar char="•"/>
            </a:pPr>
            <a:r>
              <a:rPr lang="en-US" sz="1400" dirty="0">
                <a:solidFill>
                  <a:schemeClr val="tx1"/>
                </a:solidFill>
              </a:rPr>
              <a:t>CI scans twice: full SARIF report to GitHub Security, then a blocking HIGH/CRITICAL gate</a:t>
            </a:r>
            <a:endParaRPr lang="en-US" sz="1400" dirty="0"/>
          </a:p>
        </p:txBody>
      </p:sp>
      <p:pic>
        <p:nvPicPr>
          <p:cNvPr id="8" name="img-21-trivy-scan.png" descr="21-trivy-scan.png">    </p:cNvPr>
          <p:cNvPicPr>
            <a:picLocks noChangeAspect="1"/>
          </p:cNvPicPr>
          <p:nvPr/>
        </p:nvPicPr>
        <p:blipFill>
          <a:blip r:embed="rId1"/>
          <a:stretch>
            <a:fillRect/>
          </a:stretch>
        </p:blipFill>
        <p:spPr>
          <a:xfrm>
            <a:off x="5852160" y="1325880"/>
            <a:ext cx="5788152" cy="3844711"/>
          </a:xfrm>
          <a:prstGeom prst="rect">
            <a:avLst/>
          </a:prstGeom>
          <a:effectLst>
            <a:outerShdw sx="100000" sy="100000" kx="0" ky="0" algn="bl" rotWithShape="0" blurRad="127000" dist="38100" dir="5400000">
              <a:srgbClr val="3B2A1E">
                <a:alpha val="22000"/>
              </a:srgbClr>
            </a:outerShdw>
          </a:effectLst>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Terraform: the cluster setup as code</a:t>
            </a:r>
            <a:endParaRPr lang="en-US" sz="3400" dirty="0"/>
          </a:p>
        </p:txBody>
      </p:sp>
      <p:sp>
        <p:nvSpPr>
          <p:cNvPr id="3" name="Text 1"/>
          <p:cNvSpPr txBox="1"/>
          <p:nvPr/>
        </p:nvSpPr>
        <p:spPr>
          <a:xfrm>
            <a:off x="548640" y="1325880"/>
            <a:ext cx="5394960" cy="685800"/>
          </a:xfrm>
          <a:prstGeom prst="rect">
            <a:avLst/>
          </a:prstGeom>
          <a:noFill/>
          <a:ln/>
        </p:spPr>
        <p:txBody>
          <a:bodyPr wrap="square" lIns="0" tIns="0" rIns="0" bIns="0" rtlCol="0" anchor="t"/>
          <a:lstStyle/>
          <a:p>
            <a:pPr indent="0" marL="0">
              <a:buNone/>
            </a:pPr>
            <a:r>
              <a:rPr lang="en-US" sz="1400" dirty="0">
                <a:solidFill>
                  <a:schemeClr val="tx2"/>
                </a:solidFill>
              </a:rPr>
              <a:t>No cloud account needed: the kubernetes and helm providers manage the local cluster, so plan, apply and destroy really run.</a:t>
            </a:r>
            <a:endParaRPr lang="en-US" sz="1400" dirty="0"/>
          </a:p>
        </p:txBody>
      </p:sp>
      <p:sp>
        <p:nvSpPr>
          <p:cNvPr id="4" name="box-kubernetes_namespace_v1"/>
          <p:cNvSpPr/>
          <p:nvPr/>
        </p:nvSpPr>
        <p:spPr>
          <a:xfrm>
            <a:off x="548640" y="2148840"/>
            <a:ext cx="5394960" cy="640080"/>
          </a:xfrm>
          <a:prstGeom prst="roundRect">
            <a:avLst>
              <a:gd name="adj" fmla="val 11429"/>
            </a:avLst>
          </a:prstGeom>
          <a:solidFill>
            <a:schemeClr val="bg2"/>
          </a:solidFill>
          <a:ln w="12700">
            <a:solidFill>
              <a:schemeClr val="bg2"/>
            </a:solidFill>
            <a:prstDash val="solid"/>
          </a:ln>
        </p:spPr>
      </p:sp>
      <p:sp>
        <p:nvSpPr>
          <p:cNvPr id="5" name="Text 3"/>
          <p:cNvSpPr txBox="1"/>
          <p:nvPr/>
        </p:nvSpPr>
        <p:spPr>
          <a:xfrm>
            <a:off x="548640" y="2148840"/>
            <a:ext cx="53949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kubernetes_namespace_v1</a:t>
            </a:r>
            <a:endParaRPr lang="en-US" sz="1400" dirty="0"/>
          </a:p>
          <a:p>
            <a:pPr algn="ctr" indent="0" marL="0">
              <a:buNone/>
            </a:pPr>
            <a:r>
              <a:rPr lang="en-US" sz="1200" dirty="0">
                <a:solidFill>
                  <a:schemeClr val="tx2"/>
                </a:solidFill>
              </a:rPr>
              <a:t>gearloop (PSA restricted) + monitoring</a:t>
            </a:r>
            <a:endParaRPr lang="en-US" sz="1400" dirty="0"/>
          </a:p>
        </p:txBody>
      </p:sp>
      <p:sp>
        <p:nvSpPr>
          <p:cNvPr id="6" name="arrow"/>
          <p:cNvSpPr/>
          <p:nvPr/>
        </p:nvSpPr>
        <p:spPr>
          <a:xfrm>
            <a:off x="3246120" y="2788920"/>
            <a:ext cx="914" cy="228600"/>
          </a:xfrm>
          <a:prstGeom prst="line">
            <a:avLst/>
          </a:prstGeom>
          <a:noFill/>
          <a:ln w="19050">
            <a:solidFill>
              <a:srgbClr val="8A7F73"/>
            </a:solidFill>
            <a:prstDash val="solid"/>
            <a:tailEnd type="triangle"/>
          </a:ln>
        </p:spPr>
      </p:sp>
      <p:sp>
        <p:nvSpPr>
          <p:cNvPr id="7" name="box-quota + limit range"/>
          <p:cNvSpPr/>
          <p:nvPr/>
        </p:nvSpPr>
        <p:spPr>
          <a:xfrm>
            <a:off x="548640" y="3017520"/>
            <a:ext cx="5394960" cy="640080"/>
          </a:xfrm>
          <a:prstGeom prst="roundRect">
            <a:avLst>
              <a:gd name="adj" fmla="val 11429"/>
            </a:avLst>
          </a:prstGeom>
          <a:solidFill>
            <a:schemeClr val="bg2"/>
          </a:solidFill>
          <a:ln w="12700">
            <a:solidFill>
              <a:schemeClr val="bg2"/>
            </a:solidFill>
            <a:prstDash val="solid"/>
          </a:ln>
        </p:spPr>
      </p:sp>
      <p:sp>
        <p:nvSpPr>
          <p:cNvPr id="8" name="Text 6"/>
          <p:cNvSpPr txBox="1"/>
          <p:nvPr/>
        </p:nvSpPr>
        <p:spPr>
          <a:xfrm>
            <a:off x="548640" y="3017520"/>
            <a:ext cx="53949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quota + limit range</a:t>
            </a:r>
            <a:endParaRPr lang="en-US" sz="1400" dirty="0"/>
          </a:p>
          <a:p>
            <a:pPr algn="ctr" indent="0" marL="0">
              <a:buNone/>
            </a:pPr>
            <a:r>
              <a:rPr lang="en-US" sz="1200" dirty="0">
                <a:solidFill>
                  <a:schemeClr val="tx2"/>
                </a:solidFill>
              </a:rPr>
              <a:t>caps what the namespace can request</a:t>
            </a:r>
            <a:endParaRPr lang="en-US" sz="1400" dirty="0"/>
          </a:p>
        </p:txBody>
      </p:sp>
      <p:sp>
        <p:nvSpPr>
          <p:cNvPr id="9" name="arrow"/>
          <p:cNvSpPr/>
          <p:nvPr/>
        </p:nvSpPr>
        <p:spPr>
          <a:xfrm>
            <a:off x="3246120" y="3657600"/>
            <a:ext cx="914" cy="228600"/>
          </a:xfrm>
          <a:prstGeom prst="line">
            <a:avLst/>
          </a:prstGeom>
          <a:noFill/>
          <a:ln w="19050">
            <a:solidFill>
              <a:srgbClr val="8A7F73"/>
            </a:solidFill>
            <a:prstDash val="solid"/>
            <a:tailEnd type="triangle"/>
          </a:ln>
        </p:spPr>
      </p:sp>
      <p:sp>
        <p:nvSpPr>
          <p:cNvPr id="10" name="box-helm_release.monitoring"/>
          <p:cNvSpPr/>
          <p:nvPr/>
        </p:nvSpPr>
        <p:spPr>
          <a:xfrm>
            <a:off x="548640" y="3886200"/>
            <a:ext cx="5394960" cy="640080"/>
          </a:xfrm>
          <a:prstGeom prst="roundRect">
            <a:avLst>
              <a:gd name="adj" fmla="val 11429"/>
            </a:avLst>
          </a:prstGeom>
          <a:solidFill>
            <a:schemeClr val="bg2"/>
          </a:solidFill>
          <a:ln w="12700">
            <a:solidFill>
              <a:schemeClr val="bg2"/>
            </a:solidFill>
            <a:prstDash val="solid"/>
          </a:ln>
        </p:spPr>
      </p:sp>
      <p:sp>
        <p:nvSpPr>
          <p:cNvPr id="11" name="Text 9"/>
          <p:cNvSpPr txBox="1"/>
          <p:nvPr/>
        </p:nvSpPr>
        <p:spPr>
          <a:xfrm>
            <a:off x="548640" y="3886200"/>
            <a:ext cx="53949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helm_release.monitoring</a:t>
            </a:r>
            <a:endParaRPr lang="en-US" sz="1400" dirty="0"/>
          </a:p>
          <a:p>
            <a:pPr algn="ctr" indent="0" marL="0">
              <a:buNone/>
            </a:pPr>
            <a:r>
              <a:rPr lang="en-US" sz="1200" dirty="0">
                <a:solidFill>
                  <a:schemeClr val="tx2"/>
                </a:solidFill>
              </a:rPr>
              <a:t>kube-prometheus-stack 92.9.0 (CRDs first)</a:t>
            </a:r>
            <a:endParaRPr lang="en-US" sz="1400" dirty="0"/>
          </a:p>
        </p:txBody>
      </p:sp>
      <p:sp>
        <p:nvSpPr>
          <p:cNvPr id="12" name="arrow"/>
          <p:cNvSpPr/>
          <p:nvPr/>
        </p:nvSpPr>
        <p:spPr>
          <a:xfrm>
            <a:off x="3246120" y="4526280"/>
            <a:ext cx="914" cy="228600"/>
          </a:xfrm>
          <a:prstGeom prst="line">
            <a:avLst/>
          </a:prstGeom>
          <a:noFill/>
          <a:ln w="19050">
            <a:solidFill>
              <a:srgbClr val="8A7F73"/>
            </a:solidFill>
            <a:prstDash val="solid"/>
            <a:tailEnd type="triangle"/>
          </a:ln>
        </p:spPr>
      </p:sp>
      <p:sp>
        <p:nvSpPr>
          <p:cNvPr id="13" name="box-helm_release.gearloop"/>
          <p:cNvSpPr/>
          <p:nvPr/>
        </p:nvSpPr>
        <p:spPr>
          <a:xfrm>
            <a:off x="548640" y="4754880"/>
            <a:ext cx="5394960" cy="640080"/>
          </a:xfrm>
          <a:prstGeom prst="roundRect">
            <a:avLst>
              <a:gd name="adj" fmla="val 11429"/>
            </a:avLst>
          </a:prstGeom>
          <a:solidFill>
            <a:schemeClr val="tx1"/>
          </a:solidFill>
          <a:ln w="12700">
            <a:solidFill>
              <a:schemeClr val="tx1"/>
            </a:solidFill>
            <a:prstDash val="solid"/>
          </a:ln>
        </p:spPr>
      </p:sp>
      <p:sp>
        <p:nvSpPr>
          <p:cNvPr id="14" name="Text 12"/>
          <p:cNvSpPr txBox="1"/>
          <p:nvPr/>
        </p:nvSpPr>
        <p:spPr>
          <a:xfrm>
            <a:off x="548640" y="4754880"/>
            <a:ext cx="539496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helm_release.gearloop</a:t>
            </a:r>
            <a:endParaRPr lang="en-US" sz="1400" dirty="0"/>
          </a:p>
          <a:p>
            <a:pPr algn="ctr" indent="0" marL="0">
              <a:buNone/>
            </a:pPr>
            <a:r>
              <a:rPr lang="en-US" sz="1200" dirty="0">
                <a:solidFill>
                  <a:schemeClr val="bg2"/>
                </a:solidFill>
              </a:rPr>
              <a:t>../helm/gearloop · atomic, waits for Ready</a:t>
            </a:r>
            <a:endParaRPr lang="en-US" sz="1400" dirty="0"/>
          </a:p>
        </p:txBody>
      </p:sp>
      <p:sp>
        <p:nvSpPr>
          <p:cNvPr id="15" name="Text 13"/>
          <p:cNvSpPr txBox="1"/>
          <p:nvPr/>
        </p:nvSpPr>
        <p:spPr>
          <a:xfrm>
            <a:off x="548640" y="5486400"/>
            <a:ext cx="1737360" cy="502920"/>
          </a:xfrm>
          <a:prstGeom prst="rect">
            <a:avLst/>
          </a:prstGeom>
          <a:noFill/>
          <a:ln/>
        </p:spPr>
        <p:txBody>
          <a:bodyPr wrap="square" lIns="0" tIns="0" rIns="0" bIns="0" rtlCol="0" anchor="t"/>
          <a:lstStyle/>
          <a:p>
            <a:pPr indent="0" marL="0">
              <a:buNone/>
            </a:pPr>
            <a:r>
              <a:rPr lang="en-US" sz="2800" b="1" dirty="0">
                <a:solidFill>
                  <a:schemeClr val="accent1"/>
                </a:solidFill>
              </a:rPr>
              <a:t>6</a:t>
            </a:r>
            <a:endParaRPr lang="en-US" sz="2800" dirty="0"/>
          </a:p>
        </p:txBody>
      </p:sp>
      <p:sp>
        <p:nvSpPr>
          <p:cNvPr id="16" name="Text 14"/>
          <p:cNvSpPr txBox="1"/>
          <p:nvPr/>
        </p:nvSpPr>
        <p:spPr>
          <a:xfrm>
            <a:off x="548640" y="5989320"/>
            <a:ext cx="1737360" cy="274320"/>
          </a:xfrm>
          <a:prstGeom prst="rect">
            <a:avLst/>
          </a:prstGeom>
          <a:noFill/>
          <a:ln/>
        </p:spPr>
        <p:txBody>
          <a:bodyPr wrap="square" lIns="0" tIns="0" rIns="0" bIns="0" rtlCol="0" anchor="t"/>
          <a:lstStyle/>
          <a:p>
            <a:pPr indent="0" marL="0">
              <a:buNone/>
            </a:pPr>
            <a:r>
              <a:rPr lang="en-US" sz="1200" dirty="0">
                <a:solidFill>
                  <a:schemeClr val="tx2"/>
                </a:solidFill>
              </a:rPr>
              <a:t>resources</a:t>
            </a:r>
            <a:endParaRPr lang="en-US" sz="1200" dirty="0"/>
          </a:p>
        </p:txBody>
      </p:sp>
      <p:sp>
        <p:nvSpPr>
          <p:cNvPr id="17" name="Text 15"/>
          <p:cNvSpPr txBox="1"/>
          <p:nvPr/>
        </p:nvSpPr>
        <p:spPr>
          <a:xfrm>
            <a:off x="2377440" y="5486400"/>
            <a:ext cx="1737360" cy="502920"/>
          </a:xfrm>
          <a:prstGeom prst="rect">
            <a:avLst/>
          </a:prstGeom>
          <a:noFill/>
          <a:ln/>
        </p:spPr>
        <p:txBody>
          <a:bodyPr wrap="square" lIns="0" tIns="0" rIns="0" bIns="0" rtlCol="0" anchor="t"/>
          <a:lstStyle/>
          <a:p>
            <a:pPr indent="0" marL="0">
              <a:buNone/>
            </a:pPr>
            <a:r>
              <a:rPr lang="en-US" sz="2800" b="1" dirty="0">
                <a:solidFill>
                  <a:schemeClr val="accent1"/>
                </a:solidFill>
              </a:rPr>
              <a:t>~40 s</a:t>
            </a:r>
            <a:endParaRPr lang="en-US" sz="2800" dirty="0"/>
          </a:p>
        </p:txBody>
      </p:sp>
      <p:sp>
        <p:nvSpPr>
          <p:cNvPr id="18" name="Text 16"/>
          <p:cNvSpPr txBox="1"/>
          <p:nvPr/>
        </p:nvSpPr>
        <p:spPr>
          <a:xfrm>
            <a:off x="2377440" y="5989320"/>
            <a:ext cx="1737360" cy="274320"/>
          </a:xfrm>
          <a:prstGeom prst="rect">
            <a:avLst/>
          </a:prstGeom>
          <a:noFill/>
          <a:ln/>
        </p:spPr>
        <p:txBody>
          <a:bodyPr wrap="square" lIns="0" tIns="0" rIns="0" bIns="0" rtlCol="0" anchor="t"/>
          <a:lstStyle/>
          <a:p>
            <a:pPr indent="0" marL="0">
              <a:buNone/>
            </a:pPr>
            <a:r>
              <a:rPr lang="en-US" sz="1200" dirty="0">
                <a:solidFill>
                  <a:schemeClr val="tx2"/>
                </a:solidFill>
              </a:rPr>
              <a:t>apply on minikube</a:t>
            </a:r>
            <a:endParaRPr lang="en-US" sz="1200" dirty="0"/>
          </a:p>
        </p:txBody>
      </p:sp>
      <p:sp>
        <p:nvSpPr>
          <p:cNvPr id="19" name="Text 17"/>
          <p:cNvSpPr txBox="1"/>
          <p:nvPr/>
        </p:nvSpPr>
        <p:spPr>
          <a:xfrm>
            <a:off x="4206240" y="5486400"/>
            <a:ext cx="1737360" cy="502920"/>
          </a:xfrm>
          <a:prstGeom prst="rect">
            <a:avLst/>
          </a:prstGeom>
          <a:noFill/>
          <a:ln/>
        </p:spPr>
        <p:txBody>
          <a:bodyPr wrap="square" lIns="0" tIns="0" rIns="0" bIns="0" rtlCol="0" anchor="t"/>
          <a:lstStyle/>
          <a:p>
            <a:pPr indent="0" marL="0">
              <a:buNone/>
            </a:pPr>
            <a:r>
              <a:rPr lang="en-US" sz="2800" b="1" dirty="0">
                <a:solidFill>
                  <a:schemeClr val="accent2"/>
                </a:solidFill>
              </a:rPr>
              <a:t>0</a:t>
            </a:r>
            <a:endParaRPr lang="en-US" sz="2800" dirty="0"/>
          </a:p>
        </p:txBody>
      </p:sp>
      <p:sp>
        <p:nvSpPr>
          <p:cNvPr id="20" name="Text 18"/>
          <p:cNvSpPr txBox="1"/>
          <p:nvPr/>
        </p:nvSpPr>
        <p:spPr>
          <a:xfrm>
            <a:off x="4206240" y="5989320"/>
            <a:ext cx="1737360" cy="274320"/>
          </a:xfrm>
          <a:prstGeom prst="rect">
            <a:avLst/>
          </a:prstGeom>
          <a:noFill/>
          <a:ln/>
        </p:spPr>
        <p:txBody>
          <a:bodyPr wrap="square" lIns="0" tIns="0" rIns="0" bIns="0" rtlCol="0" anchor="t"/>
          <a:lstStyle/>
          <a:p>
            <a:pPr indent="0" marL="0">
              <a:buNone/>
            </a:pPr>
            <a:r>
              <a:rPr lang="en-US" sz="1200" dirty="0">
                <a:solidFill>
                  <a:schemeClr val="tx2"/>
                </a:solidFill>
              </a:rPr>
              <a:t>left after destroy</a:t>
            </a:r>
            <a:endParaRPr lang="en-US" sz="1200" dirty="0"/>
          </a:p>
        </p:txBody>
      </p:sp>
      <p:pic>
        <p:nvPicPr>
          <p:cNvPr id="21" name="img-22b-terraform-apply.png" descr="22b-terraform-apply.png">    </p:cNvPr>
          <p:cNvPicPr>
            <a:picLocks noChangeAspect="1"/>
          </p:cNvPicPr>
          <p:nvPr/>
        </p:nvPicPr>
        <p:blipFill>
          <a:blip r:embed="rId1"/>
          <a:stretch>
            <a:fillRect/>
          </a:stretch>
        </p:blipFill>
        <p:spPr>
          <a:xfrm>
            <a:off x="6355080" y="1325880"/>
            <a:ext cx="5285232" cy="3789707"/>
          </a:xfrm>
          <a:prstGeom prst="rect">
            <a:avLst/>
          </a:prstGeom>
          <a:effectLst>
            <a:outerShdw sx="100000" sy="100000" kx="0" ky="0" algn="bl" rotWithShape="0" blurRad="127000" dist="38100" dir="5400000">
              <a:srgbClr val="3B2A1E">
                <a:alpha val="22000"/>
              </a:srgbClr>
            </a:outerShdw>
          </a:effectLst>
        </p:spPr>
      </p:pic>
      <p:sp>
        <p:nvSpPr>
          <p:cNvPr id="22" name="Text 19"/>
          <p:cNvSpPr txBox="1"/>
          <p:nvPr/>
        </p:nvSpPr>
        <p:spPr>
          <a:xfrm>
            <a:off x="6355080" y="5207027"/>
            <a:ext cx="5285232" cy="274320"/>
          </a:xfrm>
          <a:prstGeom prst="rect">
            <a:avLst/>
          </a:prstGeom>
          <a:noFill/>
          <a:ln/>
        </p:spPr>
        <p:txBody>
          <a:bodyPr wrap="square" lIns="0" tIns="0" rIns="0" bIns="0" rtlCol="0" anchor="t"/>
          <a:lstStyle/>
          <a:p>
            <a:pPr indent="0" marL="0">
              <a:buNone/>
            </a:pPr>
            <a:r>
              <a:rPr lang="en-US" sz="1100" i="1" dirty="0">
                <a:solidFill>
                  <a:schemeClr val="accent6"/>
                </a:solidFill>
              </a:rPr>
              <a:t>Real run on minikube; destroy then removed both namespaces and the Postgres volume</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GitOps with Argo CD</a:t>
            </a:r>
            <a:endParaRPr lang="en-US" sz="3400" dirty="0"/>
          </a:p>
        </p:txBody>
      </p:sp>
      <p:pic>
        <p:nvPicPr>
          <p:cNvPr id="3" name="img-36-argocd-app-tree.png" descr="36-argocd-app-tree.png">    </p:cNvPr>
          <p:cNvPicPr>
            <a:picLocks noChangeAspect="1"/>
          </p:cNvPicPr>
          <p:nvPr/>
        </p:nvPicPr>
        <p:blipFill>
          <a:blip r:embed="rId1"/>
          <a:stretch>
            <a:fillRect/>
          </a:stretch>
        </p:blipFill>
        <p:spPr>
          <a:xfrm>
            <a:off x="548640" y="1325880"/>
            <a:ext cx="6858000" cy="4072890"/>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548640" y="5490210"/>
            <a:ext cx="6858000" cy="274320"/>
          </a:xfrm>
          <a:prstGeom prst="rect">
            <a:avLst/>
          </a:prstGeom>
          <a:noFill/>
          <a:ln/>
        </p:spPr>
        <p:txBody>
          <a:bodyPr wrap="square" lIns="0" tIns="0" rIns="0" bIns="0" rtlCol="0" anchor="t"/>
          <a:lstStyle/>
          <a:p>
            <a:pPr indent="0" marL="0">
              <a:buNone/>
            </a:pPr>
            <a:r>
              <a:rPr lang="en-US" sz="1100" i="1" dirty="0">
                <a:solidFill>
                  <a:schemeClr val="accent6"/>
                </a:solidFill>
              </a:rPr>
              <a:t>Synced / Healthy; tested against a local Git server before the GitHub push</a:t>
            </a:r>
            <a:endParaRPr lang="en-US" sz="1100" dirty="0"/>
          </a:p>
        </p:txBody>
      </p:sp>
      <p:sp>
        <p:nvSpPr>
          <p:cNvPr id="5" name="Text 2"/>
          <p:cNvSpPr txBox="1"/>
          <p:nvPr/>
        </p:nvSpPr>
        <p:spPr>
          <a:xfrm>
            <a:off x="7818120" y="1325880"/>
            <a:ext cx="3840480" cy="685800"/>
          </a:xfrm>
          <a:prstGeom prst="rect">
            <a:avLst/>
          </a:prstGeom>
          <a:noFill/>
          <a:ln/>
        </p:spPr>
        <p:txBody>
          <a:bodyPr wrap="square" lIns="0" tIns="0" rIns="0" bIns="0" rtlCol="0" anchor="t"/>
          <a:lstStyle/>
          <a:p>
            <a:pPr indent="0" marL="0">
              <a:buNone/>
            </a:pPr>
            <a:r>
              <a:rPr lang="en-US" sz="4000" b="1" dirty="0">
                <a:solidFill>
                  <a:schemeClr val="accent1"/>
                </a:solidFill>
              </a:rPr>
              <a:t>18 s</a:t>
            </a:r>
            <a:endParaRPr lang="en-US" sz="4000" dirty="0"/>
          </a:p>
        </p:txBody>
      </p:sp>
      <p:sp>
        <p:nvSpPr>
          <p:cNvPr id="6" name="Text 3"/>
          <p:cNvSpPr txBox="1"/>
          <p:nvPr/>
        </p:nvSpPr>
        <p:spPr>
          <a:xfrm>
            <a:off x="7818120" y="2011680"/>
            <a:ext cx="3840480" cy="457200"/>
          </a:xfrm>
          <a:prstGeom prst="rect">
            <a:avLst/>
          </a:prstGeom>
          <a:noFill/>
          <a:ln/>
        </p:spPr>
        <p:txBody>
          <a:bodyPr wrap="square" lIns="0" tIns="0" rIns="0" bIns="0" rtlCol="0" anchor="t"/>
          <a:lstStyle/>
          <a:p>
            <a:pPr indent="0" marL="0">
              <a:buNone/>
            </a:pPr>
            <a:r>
              <a:rPr lang="en-US" sz="1300" dirty="0">
                <a:solidFill>
                  <a:schemeClr val="tx2"/>
                </a:solidFill>
              </a:rPr>
              <a:t>from git push to synced pods</a:t>
            </a:r>
            <a:endParaRPr lang="en-US" sz="1300" dirty="0"/>
          </a:p>
        </p:txBody>
      </p:sp>
      <p:sp>
        <p:nvSpPr>
          <p:cNvPr id="7" name="Text 4"/>
          <p:cNvSpPr txBox="1"/>
          <p:nvPr/>
        </p:nvSpPr>
        <p:spPr>
          <a:xfrm>
            <a:off x="7818120" y="2514600"/>
            <a:ext cx="3840480" cy="685800"/>
          </a:xfrm>
          <a:prstGeom prst="rect">
            <a:avLst/>
          </a:prstGeom>
          <a:noFill/>
          <a:ln/>
        </p:spPr>
        <p:txBody>
          <a:bodyPr wrap="square" lIns="0" tIns="0" rIns="0" bIns="0" rtlCol="0" anchor="t"/>
          <a:lstStyle/>
          <a:p>
            <a:pPr indent="0" marL="0">
              <a:buNone/>
            </a:pPr>
            <a:r>
              <a:rPr lang="en-US" sz="4000" b="1" dirty="0">
                <a:solidFill>
                  <a:schemeClr val="accent1"/>
                </a:solidFill>
              </a:rPr>
              <a:t>2 s</a:t>
            </a:r>
            <a:endParaRPr lang="en-US" sz="4000" dirty="0"/>
          </a:p>
        </p:txBody>
      </p:sp>
      <p:sp>
        <p:nvSpPr>
          <p:cNvPr id="8" name="Text 5"/>
          <p:cNvSpPr txBox="1"/>
          <p:nvPr/>
        </p:nvSpPr>
        <p:spPr>
          <a:xfrm>
            <a:off x="7818120" y="3200400"/>
            <a:ext cx="3840480" cy="457200"/>
          </a:xfrm>
          <a:prstGeom prst="rect">
            <a:avLst/>
          </a:prstGeom>
          <a:noFill/>
          <a:ln/>
        </p:spPr>
        <p:txBody>
          <a:bodyPr wrap="square" lIns="0" tIns="0" rIns="0" bIns="0" rtlCol="0" anchor="t"/>
          <a:lstStyle/>
          <a:p>
            <a:pPr indent="0" marL="0">
              <a:buNone/>
            </a:pPr>
            <a:r>
              <a:rPr lang="en-US" sz="1300" dirty="0">
                <a:solidFill>
                  <a:schemeClr val="tx2"/>
                </a:solidFill>
              </a:rPr>
              <a:t>self-heal reverts a manual kubectl change</a:t>
            </a:r>
            <a:endParaRPr lang="en-US" sz="1300" dirty="0"/>
          </a:p>
        </p:txBody>
      </p:sp>
      <p:sp>
        <p:nvSpPr>
          <p:cNvPr id="9" name="Text 6"/>
          <p:cNvSpPr txBox="1"/>
          <p:nvPr/>
        </p:nvSpPr>
        <p:spPr>
          <a:xfrm>
            <a:off x="7818120" y="3703320"/>
            <a:ext cx="3840480" cy="685800"/>
          </a:xfrm>
          <a:prstGeom prst="rect">
            <a:avLst/>
          </a:prstGeom>
          <a:noFill/>
          <a:ln/>
        </p:spPr>
        <p:txBody>
          <a:bodyPr wrap="square" lIns="0" tIns="0" rIns="0" bIns="0" rtlCol="0" anchor="t"/>
          <a:lstStyle/>
          <a:p>
            <a:pPr indent="0" marL="0">
              <a:buNone/>
            </a:pPr>
            <a:r>
              <a:rPr lang="en-US" sz="4000" b="1" dirty="0">
                <a:solidFill>
                  <a:schemeClr val="accent2"/>
                </a:solidFill>
              </a:rPr>
              <a:t>0</a:t>
            </a:r>
            <a:endParaRPr lang="en-US" sz="4000" dirty="0"/>
          </a:p>
        </p:txBody>
      </p:sp>
      <p:sp>
        <p:nvSpPr>
          <p:cNvPr id="10" name="Text 7"/>
          <p:cNvSpPr txBox="1"/>
          <p:nvPr/>
        </p:nvSpPr>
        <p:spPr>
          <a:xfrm>
            <a:off x="7818120" y="4389120"/>
            <a:ext cx="3840480" cy="457200"/>
          </a:xfrm>
          <a:prstGeom prst="rect">
            <a:avLst/>
          </a:prstGeom>
          <a:noFill/>
          <a:ln/>
        </p:spPr>
        <p:txBody>
          <a:bodyPr wrap="square" lIns="0" tIns="0" rIns="0" bIns="0" rtlCol="0" anchor="t"/>
          <a:lstStyle/>
          <a:p>
            <a:pPr indent="0" marL="0">
              <a:buNone/>
            </a:pPr>
            <a:r>
              <a:rPr lang="en-US" sz="1300" dirty="0">
                <a:solidFill>
                  <a:schemeClr val="tx2"/>
                </a:solidFill>
              </a:rPr>
              <a:t>secrets in Git (DB Secret comes from Terraform)</a:t>
            </a:r>
            <a:endParaRPr lang="en-US" sz="1300" dirty="0"/>
          </a:p>
        </p:txBody>
      </p:sp>
      <p:sp>
        <p:nvSpPr>
          <p:cNvPr id="11" name="Text 8"/>
          <p:cNvSpPr txBox="1"/>
          <p:nvPr/>
        </p:nvSpPr>
        <p:spPr>
          <a:xfrm>
            <a:off x="7818120" y="4983480"/>
            <a:ext cx="3824935" cy="1188720"/>
          </a:xfrm>
          <a:prstGeom prst="rect">
            <a:avLst/>
          </a:prstGeom>
          <a:noFill/>
          <a:ln/>
        </p:spPr>
        <p:txBody>
          <a:bodyPr wrap="square" lIns="0" tIns="0" rIns="0" bIns="0" rtlCol="0" anchor="t"/>
          <a:lstStyle/>
          <a:p>
            <a:pPr indent="0" marL="0">
              <a:buNone/>
            </a:pPr>
            <a:r>
              <a:rPr lang="en-US" sz="1300" dirty="0">
                <a:solidFill>
                  <a:schemeClr val="tx2"/>
                </a:solidFill>
              </a:rPr>
              <a:t>CI commits the new image tag to values-gitops.yaml; Argo CD (auto-sync, prune, self-heal) pulls it. GitHub never needs access to the cluster.</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Kubernetes + Helm</a:t>
            </a:r>
            <a:endParaRPr lang="en-US" sz="3400" dirty="0"/>
          </a:p>
        </p:txBody>
      </p:sp>
      <p:pic>
        <p:nvPicPr>
          <p:cNvPr id="3" name="img-23-kubectl-resources.png" descr="23-kubectl-resources.png">    </p:cNvPr>
          <p:cNvPicPr>
            <a:picLocks noChangeAspect="1"/>
          </p:cNvPicPr>
          <p:nvPr/>
        </p:nvPicPr>
        <p:blipFill>
          <a:blip r:embed="rId1"/>
          <a:stretch>
            <a:fillRect/>
          </a:stretch>
        </p:blipFill>
        <p:spPr>
          <a:xfrm>
            <a:off x="548640" y="1325880"/>
            <a:ext cx="7040880" cy="3717013"/>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548640" y="5225773"/>
            <a:ext cx="7040880" cy="365760"/>
          </a:xfrm>
          <a:prstGeom prst="rect">
            <a:avLst/>
          </a:prstGeom>
          <a:noFill/>
          <a:ln/>
        </p:spPr>
        <p:txBody>
          <a:bodyPr wrap="square" lIns="0" tIns="0" rIns="0" bIns="0" rtlCol="0" anchor="ctr"/>
          <a:lstStyle/>
          <a:p>
            <a:pPr indent="0" marL="0">
              <a:buNone/>
            </a:pPr>
            <a:r>
              <a:rPr lang="en-US" sz="1400" b="1" dirty="0">
                <a:solidFill>
                  <a:schemeClr val="tx1"/>
                </a:solidFill>
              </a:rPr>
              <a:t>helm history: </a:t>
            </a:r>
            <a:pPr indent="0" marL="0">
              <a:buNone/>
            </a:pPr>
            <a:r>
              <a:rPr lang="en-US" sz="1400" dirty="0">
                <a:solidFill>
                  <a:schemeClr val="tx1"/>
                </a:solidFill>
              </a:rPr>
              <a:t>rev 1, installed by terraform apply   </a:t>
            </a:r>
            <a:pPr indent="0" marL="0">
              <a:buNone/>
            </a:pPr>
            <a:r>
              <a:rPr lang="en-US" sz="1400" b="1" dirty="0">
                <a:solidFill>
                  <a:schemeClr val="tx1"/>
                </a:solidFill>
              </a:rPr>
              <a:t>helm test: </a:t>
            </a:r>
            <a:pPr indent="0" marL="0">
              <a:buNone/>
            </a:pPr>
            <a:r>
              <a:rPr lang="en-US" sz="1400" b="1" dirty="0">
                <a:solidFill>
                  <a:schemeClr val="accent2"/>
                </a:solidFill>
              </a:rPr>
              <a:t>Succeeded</a:t>
            </a:r>
            <a:endParaRPr lang="en-US" sz="1400" dirty="0"/>
          </a:p>
        </p:txBody>
      </p:sp>
      <p:sp>
        <p:nvSpPr>
          <p:cNvPr id="5" name="badge-FaCubes"/>
          <p:cNvSpPr/>
          <p:nvPr/>
        </p:nvSpPr>
        <p:spPr>
          <a:xfrm>
            <a:off x="7909560" y="1371600"/>
            <a:ext cx="438912" cy="438912"/>
          </a:xfrm>
          <a:prstGeom prst="ellipse">
            <a:avLst/>
          </a:prstGeom>
          <a:solidFill>
            <a:schemeClr val="accent1"/>
          </a:solidFill>
          <a:ln w="12700">
            <a:solidFill>
              <a:schemeClr val="accent1"/>
            </a:solidFill>
            <a:prstDash val="solid"/>
          </a:ln>
        </p:spPr>
      </p:sp>
      <p:pic>
        <p:nvPicPr>
          <p:cNvPr id="6" name="icon-FaCubes" descr="preencoded.png">    </p:cNvPr>
          <p:cNvPicPr>
            <a:picLocks noChangeAspect="1"/>
          </p:cNvPicPr>
          <p:nvPr/>
        </p:nvPicPr>
        <p:blipFill>
          <a:blip r:embed="rId2"/>
          <a:stretch>
            <a:fillRect/>
          </a:stretch>
        </p:blipFill>
        <p:spPr>
          <a:xfrm>
            <a:off x="8014899" y="1476939"/>
            <a:ext cx="228234" cy="228234"/>
          </a:xfrm>
          <a:prstGeom prst="rect">
            <a:avLst/>
          </a:prstGeom>
        </p:spPr>
      </p:pic>
      <p:sp>
        <p:nvSpPr>
          <p:cNvPr id="7" name="Text 3"/>
          <p:cNvSpPr txBox="1"/>
          <p:nvPr/>
        </p:nvSpPr>
        <p:spPr>
          <a:xfrm>
            <a:off x="8503920" y="1298448"/>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Deployments</a:t>
            </a:r>
            <a:endParaRPr lang="en-US" sz="1400" dirty="0"/>
          </a:p>
          <a:p>
            <a:pPr indent="0" marL="0">
              <a:buNone/>
            </a:pPr>
            <a:r>
              <a:rPr lang="en-US" sz="1200" dirty="0">
                <a:solidFill>
                  <a:schemeClr val="tx2"/>
                </a:solidFill>
              </a:rPr>
              <a:t>≥2 replicas, zero-downtime rolling updates</a:t>
            </a:r>
            <a:endParaRPr lang="en-US" sz="1400" dirty="0"/>
          </a:p>
        </p:txBody>
      </p:sp>
      <p:sp>
        <p:nvSpPr>
          <p:cNvPr id="8" name="badge-FaDatabase"/>
          <p:cNvSpPr/>
          <p:nvPr/>
        </p:nvSpPr>
        <p:spPr>
          <a:xfrm>
            <a:off x="7909560" y="2322576"/>
            <a:ext cx="438912" cy="438912"/>
          </a:xfrm>
          <a:prstGeom prst="ellipse">
            <a:avLst/>
          </a:prstGeom>
          <a:solidFill>
            <a:schemeClr val="accent1"/>
          </a:solidFill>
          <a:ln w="12700">
            <a:solidFill>
              <a:schemeClr val="accent1"/>
            </a:solidFill>
            <a:prstDash val="solid"/>
          </a:ln>
        </p:spPr>
      </p:sp>
      <p:pic>
        <p:nvPicPr>
          <p:cNvPr id="9" name="icon-FaDatabase" descr="preencoded.png">    </p:cNvPr>
          <p:cNvPicPr>
            <a:picLocks noChangeAspect="1"/>
          </p:cNvPicPr>
          <p:nvPr/>
        </p:nvPicPr>
        <p:blipFill>
          <a:blip r:embed="rId3"/>
          <a:stretch>
            <a:fillRect/>
          </a:stretch>
        </p:blipFill>
        <p:spPr>
          <a:xfrm>
            <a:off x="8014899" y="2427915"/>
            <a:ext cx="228234" cy="228234"/>
          </a:xfrm>
          <a:prstGeom prst="rect">
            <a:avLst/>
          </a:prstGeom>
        </p:spPr>
      </p:pic>
      <p:sp>
        <p:nvSpPr>
          <p:cNvPr id="10" name="Text 5"/>
          <p:cNvSpPr txBox="1"/>
          <p:nvPr/>
        </p:nvSpPr>
        <p:spPr>
          <a:xfrm>
            <a:off x="8503920" y="2249424"/>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Postgres StatefulSet</a:t>
            </a:r>
            <a:endParaRPr lang="en-US" sz="1400" dirty="0"/>
          </a:p>
          <a:p>
            <a:pPr indent="0" marL="0">
              <a:buNone/>
            </a:pPr>
            <a:r>
              <a:rPr lang="en-US" sz="1200" dirty="0">
                <a:solidFill>
                  <a:schemeClr val="tx2"/>
                </a:solidFill>
              </a:rPr>
              <a:t>PVC, password kept across upgrades</a:t>
            </a:r>
            <a:endParaRPr lang="en-US" sz="1400" dirty="0"/>
          </a:p>
        </p:txBody>
      </p:sp>
      <p:sp>
        <p:nvSpPr>
          <p:cNvPr id="11" name="badge-FaRotate"/>
          <p:cNvSpPr/>
          <p:nvPr/>
        </p:nvSpPr>
        <p:spPr>
          <a:xfrm>
            <a:off x="7909560" y="3273552"/>
            <a:ext cx="438912" cy="438912"/>
          </a:xfrm>
          <a:prstGeom prst="ellipse">
            <a:avLst/>
          </a:prstGeom>
          <a:solidFill>
            <a:schemeClr val="accent1"/>
          </a:solidFill>
          <a:ln w="12700">
            <a:solidFill>
              <a:schemeClr val="accent1"/>
            </a:solidFill>
            <a:prstDash val="solid"/>
          </a:ln>
        </p:spPr>
      </p:sp>
      <p:pic>
        <p:nvPicPr>
          <p:cNvPr id="12" name="icon-FaRotate" descr="preencoded.png">    </p:cNvPr>
          <p:cNvPicPr>
            <a:picLocks noChangeAspect="1"/>
          </p:cNvPicPr>
          <p:nvPr/>
        </p:nvPicPr>
        <p:blipFill>
          <a:blip r:embed="rId4"/>
          <a:stretch>
            <a:fillRect/>
          </a:stretch>
        </p:blipFill>
        <p:spPr>
          <a:xfrm>
            <a:off x="8014899" y="3378891"/>
            <a:ext cx="228234" cy="228234"/>
          </a:xfrm>
          <a:prstGeom prst="rect">
            <a:avLst/>
          </a:prstGeom>
        </p:spPr>
      </p:pic>
      <p:sp>
        <p:nvSpPr>
          <p:cNvPr id="13" name="Text 7"/>
          <p:cNvSpPr txBox="1"/>
          <p:nvPr/>
        </p:nvSpPr>
        <p:spPr>
          <a:xfrm>
            <a:off x="8503920" y="3200400"/>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Migrations in an initContainer</a:t>
            </a:r>
            <a:endParaRPr lang="en-US" sz="1400" dirty="0"/>
          </a:p>
          <a:p>
            <a:pPr indent="0" marL="0">
              <a:buNone/>
            </a:pPr>
            <a:r>
              <a:rPr lang="en-US" sz="1200" dirty="0">
                <a:solidFill>
                  <a:schemeClr val="tx2"/>
                </a:solidFill>
              </a:rPr>
              <a:t>Postgres advisory lock, so replicas never race</a:t>
            </a:r>
            <a:endParaRPr lang="en-US" sz="1400" dirty="0"/>
          </a:p>
        </p:txBody>
      </p:sp>
      <p:sp>
        <p:nvSpPr>
          <p:cNvPr id="14" name="badge-FaHeartPulse"/>
          <p:cNvSpPr/>
          <p:nvPr/>
        </p:nvSpPr>
        <p:spPr>
          <a:xfrm>
            <a:off x="7909560" y="4224528"/>
            <a:ext cx="438912" cy="438912"/>
          </a:xfrm>
          <a:prstGeom prst="ellipse">
            <a:avLst/>
          </a:prstGeom>
          <a:solidFill>
            <a:schemeClr val="accent1"/>
          </a:solidFill>
          <a:ln w="12700">
            <a:solidFill>
              <a:schemeClr val="accent1"/>
            </a:solidFill>
            <a:prstDash val="solid"/>
          </a:ln>
        </p:spPr>
      </p:sp>
      <p:pic>
        <p:nvPicPr>
          <p:cNvPr id="15" name="icon-FaHeartPulse" descr="preencoded.png">    </p:cNvPr>
          <p:cNvPicPr>
            <a:picLocks noChangeAspect="1"/>
          </p:cNvPicPr>
          <p:nvPr/>
        </p:nvPicPr>
        <p:blipFill>
          <a:blip r:embed="rId5"/>
          <a:stretch>
            <a:fillRect/>
          </a:stretch>
        </p:blipFill>
        <p:spPr>
          <a:xfrm>
            <a:off x="8014899" y="4329867"/>
            <a:ext cx="228234" cy="228234"/>
          </a:xfrm>
          <a:prstGeom prst="rect">
            <a:avLst/>
          </a:prstGeom>
        </p:spPr>
      </p:pic>
      <p:sp>
        <p:nvSpPr>
          <p:cNvPr id="16" name="Text 9"/>
          <p:cNvSpPr txBox="1"/>
          <p:nvPr/>
        </p:nvSpPr>
        <p:spPr>
          <a:xfrm>
            <a:off x="8503920" y="4151376"/>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Startup, readiness, liveness</a:t>
            </a:r>
            <a:endParaRPr lang="en-US" sz="1400" dirty="0"/>
          </a:p>
          <a:p>
            <a:pPr indent="0" marL="0">
              <a:buNone/>
            </a:pPr>
            <a:r>
              <a:rPr lang="en-US" sz="1200" dirty="0">
                <a:solidFill>
                  <a:schemeClr val="tx2"/>
                </a:solidFill>
              </a:rPr>
              <a:t>/ready gates traffic on the DB</a:t>
            </a:r>
            <a:endParaRPr lang="en-US" sz="1400" dirty="0"/>
          </a:p>
        </p:txBody>
      </p:sp>
      <p:sp>
        <p:nvSpPr>
          <p:cNvPr id="17" name="badge-FaLock"/>
          <p:cNvSpPr/>
          <p:nvPr/>
        </p:nvSpPr>
        <p:spPr>
          <a:xfrm>
            <a:off x="7909560" y="5175504"/>
            <a:ext cx="438912" cy="438912"/>
          </a:xfrm>
          <a:prstGeom prst="ellipse">
            <a:avLst/>
          </a:prstGeom>
          <a:solidFill>
            <a:schemeClr val="accent1"/>
          </a:solidFill>
          <a:ln w="12700">
            <a:solidFill>
              <a:schemeClr val="accent1"/>
            </a:solidFill>
            <a:prstDash val="solid"/>
          </a:ln>
        </p:spPr>
      </p:sp>
      <p:pic>
        <p:nvPicPr>
          <p:cNvPr id="18" name="icon-FaLock" descr="preencoded.png">    </p:cNvPr>
          <p:cNvPicPr>
            <a:picLocks noChangeAspect="1"/>
          </p:cNvPicPr>
          <p:nvPr/>
        </p:nvPicPr>
        <p:blipFill>
          <a:blip r:embed="rId6"/>
          <a:stretch>
            <a:fillRect/>
          </a:stretch>
        </p:blipFill>
        <p:spPr>
          <a:xfrm>
            <a:off x="8014899" y="5280843"/>
            <a:ext cx="228234" cy="228234"/>
          </a:xfrm>
          <a:prstGeom prst="rect">
            <a:avLst/>
          </a:prstGeom>
        </p:spPr>
      </p:pic>
      <p:sp>
        <p:nvSpPr>
          <p:cNvPr id="19" name="Text 11"/>
          <p:cNvSpPr txBox="1"/>
          <p:nvPr/>
        </p:nvSpPr>
        <p:spPr>
          <a:xfrm>
            <a:off x="8503920" y="5102352"/>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Locked down</a:t>
            </a:r>
            <a:endParaRPr lang="en-US" sz="1400" dirty="0"/>
          </a:p>
          <a:p>
            <a:pPr indent="0" marL="0">
              <a:buNone/>
            </a:pPr>
            <a:r>
              <a:rPr lang="en-US" sz="1200" dirty="0">
                <a:solidFill>
                  <a:schemeClr val="tx2"/>
                </a:solidFill>
              </a:rPr>
              <a:t>PSA restricted · read-only FS · NetworkPolicy · PDBs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Ingress: one origin for the browser</a:t>
            </a:r>
            <a:endParaRPr lang="en-US" sz="3400" dirty="0"/>
          </a:p>
        </p:txBody>
      </p:sp>
      <p:pic>
        <p:nvPicPr>
          <p:cNvPr id="3" name="img-34-app-via-ingress.png" descr="34-app-via-ingress.png">    </p:cNvPr>
          <p:cNvPicPr>
            <a:picLocks noChangeAspect="1"/>
          </p:cNvPicPr>
          <p:nvPr/>
        </p:nvPicPr>
        <p:blipFill>
          <a:blip r:embed="rId1"/>
          <a:stretch>
            <a:fillRect/>
          </a:stretch>
        </p:blipFill>
        <p:spPr>
          <a:xfrm>
            <a:off x="548640" y="1325880"/>
            <a:ext cx="6583680" cy="4239158"/>
          </a:xfrm>
          <a:prstGeom prst="rect">
            <a:avLst/>
          </a:prstGeom>
          <a:effectLst>
            <a:outerShdw sx="100000" sy="100000" kx="0" ky="0" algn="bl" rotWithShape="0" blurRad="127000" dist="38100" dir="5400000">
              <a:srgbClr val="3B2A1E">
                <a:alpha val="22000"/>
              </a:srgbClr>
            </a:outerShdw>
          </a:effectLst>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144975" cy="914400"/>
        </p:xfrm>
        <a:graphic>
          <a:graphicData uri="http://schemas.openxmlformats.org/drawingml/2006/table">
            <a:tbl>
              <a:tblPr/>
              <a:tblGrid>
                <a:gridCol w="1554480"/>
                <a:gridCol w="2590495"/>
              </a:tblGrid>
              <a:tr h="365760">
                <a:tc>
                  <a:txBody>
                    <a:bodyPr/>
                    <a:lstStyle/>
                    <a:p>
                      <a:pPr indent="0" marL="0">
                        <a:buNone/>
                      </a:pPr>
                      <a:r>
                        <a:rPr lang="en-US" sz="1300" b="1" dirty="0">
                          <a:solidFill>
                            <a:schemeClr val="bg1"/>
                          </a:solidFill>
                        </a:rPr>
                        <a:t>Path</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Routed to</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frontend (nginx)</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/api</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backend (FastAPI)</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/docs</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backend (Swagger)</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/openapi.json</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backend</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Text 1"/>
          <p:cNvSpPr txBox="1"/>
          <p:nvPr/>
        </p:nvSpPr>
        <p:spPr>
          <a:xfrm>
            <a:off x="7498080" y="3383280"/>
            <a:ext cx="4144975" cy="914400"/>
          </a:xfrm>
          <a:prstGeom prst="rect">
            <a:avLst/>
          </a:prstGeom>
          <a:noFill/>
          <a:ln/>
        </p:spPr>
        <p:txBody>
          <a:bodyPr wrap="square" lIns="0" tIns="0" rIns="0" bIns="0" rtlCol="0" anchor="t"/>
          <a:lstStyle/>
          <a:p>
            <a:pPr indent="0" marL="0">
              <a:buNone/>
            </a:pPr>
            <a:r>
              <a:rPr lang="en-US" sz="1300" dirty="0">
                <a:solidFill>
                  <a:schemeClr val="tx2"/>
                </a:solidFill>
              </a:rPr>
              <a:t>No CORS and no backend hostname in the JavaScript bundle. The Ingress is only configuration; the ingress-nginx controller does the routing.</a:t>
            </a:r>
            <a:endParaRPr lang="en-US" sz="1300" dirty="0"/>
          </a:p>
        </p:txBody>
      </p:sp>
      <p:sp>
        <p:nvSpPr>
          <p:cNvPr id="6" name="dns-fix"/>
          <p:cNvSpPr/>
          <p:nvPr/>
        </p:nvSpPr>
        <p:spPr>
          <a:xfrm>
            <a:off x="7498080" y="4480560"/>
            <a:ext cx="4144975" cy="1691640"/>
          </a:xfrm>
          <a:prstGeom prst="roundRect">
            <a:avLst>
              <a:gd name="adj" fmla="val 4324"/>
            </a:avLst>
          </a:prstGeom>
          <a:solidFill>
            <a:schemeClr val="bg2"/>
          </a:solidFill>
          <a:ln w="12700">
            <a:solidFill>
              <a:schemeClr val="bg2"/>
            </a:solidFill>
            <a:prstDash val="solid"/>
          </a:ln>
        </p:spPr>
      </p:sp>
      <p:sp>
        <p:nvSpPr>
          <p:cNvPr id="7" name="Text 3"/>
          <p:cNvSpPr txBox="1"/>
          <p:nvPr/>
        </p:nvSpPr>
        <p:spPr>
          <a:xfrm>
            <a:off x="7680960" y="4572000"/>
            <a:ext cx="3779215" cy="320040"/>
          </a:xfrm>
          <a:prstGeom prst="rect">
            <a:avLst/>
          </a:prstGeom>
          <a:noFill/>
          <a:ln/>
        </p:spPr>
        <p:txBody>
          <a:bodyPr wrap="square" lIns="0" tIns="0" rIns="0" bIns="0" rtlCol="0" anchor="t"/>
          <a:lstStyle/>
          <a:p>
            <a:pPr indent="0" marL="0">
              <a:buNone/>
            </a:pPr>
            <a:r>
              <a:rPr lang="en-US" sz="1300" b="1" dirty="0">
                <a:solidFill>
                  <a:schemeClr val="accent1"/>
                </a:solidFill>
              </a:rPr>
              <a:t>Bug found while capturing this deck</a:t>
            </a:r>
            <a:endParaRPr lang="en-US" sz="1300" dirty="0"/>
          </a:p>
        </p:txBody>
      </p:sp>
      <p:sp>
        <p:nvSpPr>
          <p:cNvPr id="8" name="Text 4"/>
          <p:cNvSpPr txBox="1"/>
          <p:nvPr/>
        </p:nvSpPr>
        <p:spPr>
          <a:xfrm>
            <a:off x="7680960" y="4919472"/>
            <a:ext cx="3779215" cy="1188720"/>
          </a:xfrm>
          <a:prstGeom prst="rect">
            <a:avLst/>
          </a:prstGeom>
          <a:noFill/>
          <a:ln/>
        </p:spPr>
        <p:txBody>
          <a:bodyPr wrap="square" lIns="0" tIns="0" rIns="0" bIns="0" rtlCol="0" anchor="t"/>
          <a:lstStyle/>
          <a:p>
            <a:pPr indent="0" marL="0">
              <a:buNone/>
            </a:pPr>
            <a:r>
              <a:rPr lang="en-US" sz="1200" dirty="0">
                <a:solidFill>
                  <a:schemeClr val="tx1"/>
                </a:solidFill>
              </a:rPr>
              <a:t>After a node restart, nginx exited with "host not found in upstream" before CoreDNS was ready. It now resolves the Service per request and stays up.</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Autoscaling under load (real run)</a:t>
            </a:r>
            <a:endParaRPr lang="en-US" sz="3400" dirty="0"/>
          </a:p>
        </p:txBody>
      </p:sp>
      <p:graphicFrame>
        <p:nvGraphicFramePr>
          <p:cNvPr id="3" name="Chart 0" descr=""/>
          <p:cNvGraphicFramePr/>
          <p:nvPr/>
        </p:nvGraphicFramePr>
        <p:xfrm>
          <a:off x="548640" y="1325880"/>
          <a:ext cx="7223760" cy="4892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371600"/>
            <a:ext cx="3474720" cy="685800"/>
          </a:xfrm>
          <a:prstGeom prst="rect">
            <a:avLst/>
          </a:prstGeom>
          <a:noFill/>
          <a:ln/>
        </p:spPr>
        <p:txBody>
          <a:bodyPr wrap="square" lIns="0" tIns="0" rIns="0" bIns="0" rtlCol="0" anchor="t"/>
          <a:lstStyle/>
          <a:p>
            <a:pPr indent="0" marL="0">
              <a:buNone/>
            </a:pPr>
            <a:r>
              <a:rPr lang="en-US" sz="4000" b="1" dirty="0">
                <a:solidFill>
                  <a:schemeClr val="accent1"/>
                </a:solidFill>
              </a:rPr>
              <a:t>2 → 6</a:t>
            </a:r>
            <a:endParaRPr lang="en-US" sz="4000" dirty="0"/>
          </a:p>
        </p:txBody>
      </p:sp>
      <p:sp>
        <p:nvSpPr>
          <p:cNvPr id="5" name="Text 2"/>
          <p:cNvSpPr txBox="1"/>
          <p:nvPr/>
        </p:nvSpPr>
        <p:spPr>
          <a:xfrm>
            <a:off x="8138160" y="2057400"/>
            <a:ext cx="3474720" cy="457200"/>
          </a:xfrm>
          <a:prstGeom prst="rect">
            <a:avLst/>
          </a:prstGeom>
          <a:noFill/>
          <a:ln/>
        </p:spPr>
        <p:txBody>
          <a:bodyPr wrap="square" lIns="0" tIns="0" rIns="0" bIns="0" rtlCol="0" anchor="t"/>
          <a:lstStyle/>
          <a:p>
            <a:pPr indent="0" marL="0">
              <a:buNone/>
            </a:pPr>
            <a:r>
              <a:rPr lang="en-US" sz="1300" dirty="0">
                <a:solidFill>
                  <a:schemeClr val="tx2"/>
                </a:solidFill>
              </a:rPr>
              <a:t>backend replicas</a:t>
            </a:r>
            <a:endParaRPr lang="en-US" sz="1300" dirty="0"/>
          </a:p>
        </p:txBody>
      </p:sp>
      <p:sp>
        <p:nvSpPr>
          <p:cNvPr id="6" name="Text 3"/>
          <p:cNvSpPr txBox="1"/>
          <p:nvPr/>
        </p:nvSpPr>
        <p:spPr>
          <a:xfrm>
            <a:off x="8138160" y="2606040"/>
            <a:ext cx="3474720" cy="685800"/>
          </a:xfrm>
          <a:prstGeom prst="rect">
            <a:avLst/>
          </a:prstGeom>
          <a:noFill/>
          <a:ln/>
        </p:spPr>
        <p:txBody>
          <a:bodyPr wrap="square" lIns="0" tIns="0" rIns="0" bIns="0" rtlCol="0" anchor="t"/>
          <a:lstStyle/>
          <a:p>
            <a:pPr indent="0" marL="0">
              <a:buNone/>
            </a:pPr>
            <a:r>
              <a:rPr lang="en-US" sz="4000" b="1" dirty="0">
                <a:solidFill>
                  <a:schemeClr val="accent1"/>
                </a:solidFill>
              </a:rPr>
              <a:t>438 %</a:t>
            </a:r>
            <a:endParaRPr lang="en-US" sz="4000" dirty="0"/>
          </a:p>
        </p:txBody>
      </p:sp>
      <p:sp>
        <p:nvSpPr>
          <p:cNvPr id="7" name="Text 4"/>
          <p:cNvSpPr txBox="1"/>
          <p:nvPr/>
        </p:nvSpPr>
        <p:spPr>
          <a:xfrm>
            <a:off x="8138160" y="3291840"/>
            <a:ext cx="3474720" cy="457200"/>
          </a:xfrm>
          <a:prstGeom prst="rect">
            <a:avLst/>
          </a:prstGeom>
          <a:noFill/>
          <a:ln/>
        </p:spPr>
        <p:txBody>
          <a:bodyPr wrap="square" lIns="0" tIns="0" rIns="0" bIns="0" rtlCol="0" anchor="t"/>
          <a:lstStyle/>
          <a:p>
            <a:pPr indent="0" marL="0">
              <a:buNone/>
            </a:pPr>
            <a:r>
              <a:rPr lang="en-US" sz="1300" dirty="0">
                <a:solidFill>
                  <a:schemeClr val="tx2"/>
                </a:solidFill>
              </a:rPr>
              <a:t>CPU of request at peak (target 60 %)</a:t>
            </a:r>
            <a:endParaRPr lang="en-US" sz="1300" dirty="0"/>
          </a:p>
        </p:txBody>
      </p:sp>
      <p:sp>
        <p:nvSpPr>
          <p:cNvPr id="8" name="Text 5"/>
          <p:cNvSpPr txBox="1"/>
          <p:nvPr/>
        </p:nvSpPr>
        <p:spPr>
          <a:xfrm>
            <a:off x="8138160" y="3840480"/>
            <a:ext cx="3474720" cy="685800"/>
          </a:xfrm>
          <a:prstGeom prst="rect">
            <a:avLst/>
          </a:prstGeom>
          <a:noFill/>
          <a:ln/>
        </p:spPr>
        <p:txBody>
          <a:bodyPr wrap="square" lIns="0" tIns="0" rIns="0" bIns="0" rtlCol="0" anchor="t"/>
          <a:lstStyle/>
          <a:p>
            <a:pPr indent="0" marL="0">
              <a:buNone/>
            </a:pPr>
            <a:r>
              <a:rPr lang="en-US" sz="4000" b="1" dirty="0">
                <a:solidFill>
                  <a:schemeClr val="accent1"/>
                </a:solidFill>
              </a:rPr>
              <a:t>~45 s</a:t>
            </a:r>
            <a:endParaRPr lang="en-US" sz="4000" dirty="0"/>
          </a:p>
        </p:txBody>
      </p:sp>
      <p:sp>
        <p:nvSpPr>
          <p:cNvPr id="9" name="Text 6"/>
          <p:cNvSpPr txBox="1"/>
          <p:nvPr/>
        </p:nvSpPr>
        <p:spPr>
          <a:xfrm>
            <a:off x="8138160" y="4526280"/>
            <a:ext cx="3474720" cy="457200"/>
          </a:xfrm>
          <a:prstGeom prst="rect">
            <a:avLst/>
          </a:prstGeom>
          <a:noFill/>
          <a:ln/>
        </p:spPr>
        <p:txBody>
          <a:bodyPr wrap="square" lIns="0" tIns="0" rIns="0" bIns="0" rtlCol="0" anchor="t"/>
          <a:lstStyle/>
          <a:p>
            <a:pPr indent="0" marL="0">
              <a:buNone/>
            </a:pPr>
            <a:r>
              <a:rPr lang="en-US" sz="1300" dirty="0">
                <a:solidFill>
                  <a:schemeClr val="tx2"/>
                </a:solidFill>
              </a:rPr>
              <a:t>from first scale-up to six pods</a:t>
            </a:r>
            <a:endParaRPr lang="en-US" sz="1300" dirty="0"/>
          </a:p>
        </p:txBody>
      </p:sp>
      <p:sp>
        <p:nvSpPr>
          <p:cNvPr id="10" name="Text 7"/>
          <p:cNvSpPr txBox="1"/>
          <p:nvPr/>
        </p:nvSpPr>
        <p:spPr>
          <a:xfrm>
            <a:off x="8138160" y="5120640"/>
            <a:ext cx="3504895" cy="1005840"/>
          </a:xfrm>
          <a:prstGeom prst="rect">
            <a:avLst/>
          </a:prstGeom>
          <a:noFill/>
          <a:ln/>
        </p:spPr>
        <p:txBody>
          <a:bodyPr wrap="square" lIns="0" tIns="0" rIns="0" bIns="0" rtlCol="0" anchor="t"/>
          <a:lstStyle/>
          <a:p>
            <a:pPr indent="0" marL="0">
              <a:buNone/>
            </a:pPr>
            <a:r>
              <a:rPr lang="en-US" sz="1200" dirty="0">
                <a:solidFill>
                  <a:schemeClr val="tx2"/>
                </a:solidFill>
              </a:rPr>
              <a:t>scripts/load-test.sh runs 30 in-cluster workers. The HPA needs CPU requests on the pods and a metrics source (metrics-server).</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Observability: Prometheus + Grafana</a:t>
            </a:r>
            <a:endParaRPr lang="en-US" sz="3400" dirty="0"/>
          </a:p>
        </p:txBody>
      </p:sp>
      <p:pic>
        <p:nvPicPr>
          <p:cNvPr id="3" name="img-27-grafana-dashboard.png" descr="27-grafana-dashboard.png">    </p:cNvPr>
          <p:cNvPicPr>
            <a:picLocks noChangeAspect="1"/>
          </p:cNvPicPr>
          <p:nvPr/>
        </p:nvPicPr>
        <p:blipFill>
          <a:blip r:embed="rId1"/>
          <a:stretch>
            <a:fillRect/>
          </a:stretch>
        </p:blipFill>
        <p:spPr>
          <a:xfrm>
            <a:off x="548640" y="1325880"/>
            <a:ext cx="6629400" cy="4891024"/>
          </a:xfrm>
          <a:prstGeom prst="rect">
            <a:avLst/>
          </a:prstGeom>
          <a:effectLst>
            <a:outerShdw sx="100000" sy="100000" kx="0" ky="0" algn="bl" rotWithShape="0" blurRad="127000" dist="38100" dir="5400000">
              <a:srgbClr val="3B2A1E">
                <a:alpha val="22000"/>
              </a:srgbClr>
            </a:outerShdw>
          </a:effectLst>
        </p:spPr>
      </p:pic>
      <p:pic>
        <p:nvPicPr>
          <p:cNvPr id="4" name="img-28-prometheus-targets.png" descr="28-prometheus-targets.png">    </p:cNvPr>
          <p:cNvPicPr>
            <a:picLocks noChangeAspect="1"/>
          </p:cNvPicPr>
          <p:nvPr/>
        </p:nvPicPr>
        <p:blipFill>
          <a:blip r:embed="rId2"/>
          <a:stretch>
            <a:fillRect/>
          </a:stretch>
        </p:blipFill>
        <p:spPr>
          <a:xfrm>
            <a:off x="7839151" y="1371600"/>
            <a:ext cx="3803904" cy="2377440"/>
          </a:xfrm>
          <a:prstGeom prst="rect">
            <a:avLst/>
          </a:prstGeom>
          <a:effectLst>
            <a:outerShdw sx="100000" sy="100000" kx="0" ky="0" algn="bl" rotWithShape="0" blurRad="127000" dist="38100" dir="5400000">
              <a:srgbClr val="3B2A1E">
                <a:alpha val="22000"/>
              </a:srgbClr>
            </a:outerShdw>
          </a:effectLst>
        </p:spPr>
      </p:pic>
      <p:sp>
        <p:nvSpPr>
          <p:cNvPr id="5" name="Text 1"/>
          <p:cNvSpPr txBox="1"/>
          <p:nvPr/>
        </p:nvSpPr>
        <p:spPr>
          <a:xfrm>
            <a:off x="7498080" y="3822192"/>
            <a:ext cx="4144975" cy="274320"/>
          </a:xfrm>
          <a:prstGeom prst="rect">
            <a:avLst/>
          </a:prstGeom>
          <a:noFill/>
          <a:ln/>
        </p:spPr>
        <p:txBody>
          <a:bodyPr wrap="square" lIns="0" tIns="0" rIns="0" bIns="0" rtlCol="0" anchor="t"/>
          <a:lstStyle/>
          <a:p>
            <a:pPr indent="0" marL="0">
              <a:buNone/>
            </a:pPr>
            <a:r>
              <a:rPr lang="en-US" sz="1100" i="1" dirty="0">
                <a:solidFill>
                  <a:schemeClr val="accent6"/>
                </a:solidFill>
              </a:rPr>
              <a:t>Prometheus: every backend pod scraped and UP</a:t>
            </a:r>
            <a:endParaRPr lang="en-US" sz="1100" dirty="0"/>
          </a:p>
        </p:txBody>
      </p:sp>
      <p:sp>
        <p:nvSpPr>
          <p:cNvPr id="6" name="Text 2"/>
          <p:cNvSpPr txBox="1"/>
          <p:nvPr/>
        </p:nvSpPr>
        <p:spPr>
          <a:xfrm>
            <a:off x="7498080" y="4206240"/>
            <a:ext cx="4144975" cy="2011680"/>
          </a:xfrm>
          <a:prstGeom prst="rect">
            <a:avLst/>
          </a:prstGeom>
          <a:noFill/>
          <a:ln/>
        </p:spPr>
        <p:txBody>
          <a:bodyPr wrap="square" lIns="0" tIns="0" rIns="0" bIns="0" rtlCol="0" anchor="t"/>
          <a:lstStyle/>
          <a:p>
            <a:pPr marL="190500" indent="-190500">
              <a:spcAft>
                <a:spcPts val="700"/>
              </a:spcAft>
              <a:buSzPct val="100000"/>
              <a:buChar char="•"/>
            </a:pPr>
            <a:r>
              <a:rPr lang="en-US" sz="1300" b="1" dirty="0">
                <a:solidFill>
                  <a:schemeClr val="tx1"/>
                </a:solidFill>
              </a:rPr>
              <a:t>Dashboard as code: </a:t>
            </a:r>
            <a:pPr indent="0" marL="0">
              <a:spcAft>
                <a:spcPts val="700"/>
              </a:spcAft>
              <a:buNone/>
            </a:pPr>
            <a:r>
              <a:rPr lang="en-US" sz="1300" dirty="0">
                <a:solidFill>
                  <a:schemeClr val="tx1"/>
                </a:solidFill>
              </a:rPr>
              <a:t>shipped in the chart and auto-imported</a:t>
            </a:r>
            <a:endParaRPr lang="en-US" sz="1300" dirty="0"/>
          </a:p>
          <a:p>
            <a:pPr marL="190500" indent="-190500">
              <a:spcAft>
                <a:spcPts val="700"/>
              </a:spcAft>
              <a:buSzPct val="100000"/>
              <a:buChar char="•"/>
            </a:pPr>
            <a:r>
              <a:rPr lang="en-US" sz="1300" b="1" dirty="0">
                <a:solidFill>
                  <a:schemeClr val="tx1"/>
                </a:solidFill>
              </a:rPr>
              <a:t>Business metrics: </a:t>
            </a:r>
            <a:pPr indent="0" marL="0">
              <a:spcAft>
                <a:spcPts val="700"/>
              </a:spcAft>
              <a:buNone/>
            </a:pPr>
            <a:r>
              <a:rPr lang="en-US" sz="1300" dirty="0">
                <a:solidFill>
                  <a:schemeClr val="tx1"/>
                </a:solidFill>
              </a:rPr>
              <a:t>items by status and checkouts per category, read from the DB at scrape time</a:t>
            </a:r>
            <a:endParaRPr lang="en-US" sz="1300" dirty="0"/>
          </a:p>
          <a:p>
            <a:pPr marL="190500" indent="-190500">
              <a:spcAft>
                <a:spcPts val="700"/>
              </a:spcAft>
              <a:buSzPct val="100000"/>
              <a:buChar char="•"/>
            </a:pPr>
            <a:r>
              <a:rPr lang="en-US" sz="1300" b="1" dirty="0">
                <a:solidFill>
                  <a:schemeClr val="tx1"/>
                </a:solidFill>
              </a:rPr>
              <a:t>4 alert rules: </a:t>
            </a:r>
            <a:pPr indent="0" marL="0">
              <a:spcAft>
                <a:spcPts val="700"/>
              </a:spcAft>
              <a:buNone/>
            </a:pPr>
            <a:r>
              <a:rPr lang="en-US" sz="1300" dirty="0">
                <a:solidFill>
                  <a:schemeClr val="tx1"/>
                </a:solidFill>
              </a:rPr>
              <a:t>backend down, 5xx &gt; 5 %, p95 &gt; 500 ms, overdue gear</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testing on a real cluster caught</a:t>
            </a:r>
            <a:endParaRPr lang="en-US" sz="3400" dirty="0"/>
          </a:p>
        </p:txBody>
      </p:sp>
      <p:sp>
        <p:nvSpPr>
          <p:cNvPr id="3" name="bug"/>
          <p:cNvSpPr/>
          <p:nvPr/>
        </p:nvSpPr>
        <p:spPr>
          <a:xfrm>
            <a:off x="548640" y="1371600"/>
            <a:ext cx="5387188" cy="2331720"/>
          </a:xfrm>
          <a:prstGeom prst="roundRect">
            <a:avLst>
              <a:gd name="adj" fmla="val 3137"/>
            </a:avLst>
          </a:prstGeom>
          <a:solidFill>
            <a:schemeClr val="bg2"/>
          </a:solidFill>
          <a:ln w="12700">
            <a:solidFill>
              <a:schemeClr val="bg2"/>
            </a:solidFill>
            <a:prstDash val="solid"/>
          </a:ln>
        </p:spPr>
      </p:sp>
      <p:sp>
        <p:nvSpPr>
          <p:cNvPr id="4" name="badge-FaRotate"/>
          <p:cNvSpPr/>
          <p:nvPr/>
        </p:nvSpPr>
        <p:spPr>
          <a:xfrm>
            <a:off x="777240" y="1600200"/>
            <a:ext cx="502920" cy="502920"/>
          </a:xfrm>
          <a:prstGeom prst="ellipse">
            <a:avLst/>
          </a:prstGeom>
          <a:solidFill>
            <a:schemeClr val="accent1"/>
          </a:solidFill>
          <a:ln w="12700">
            <a:solidFill>
              <a:schemeClr val="accent1"/>
            </a:solidFill>
            <a:prstDash val="solid"/>
          </a:ln>
        </p:spPr>
      </p:sp>
      <p:pic>
        <p:nvPicPr>
          <p:cNvPr id="5" name="icon-FaRotate"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63040" y="164592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Helm install deadlock</a:t>
            </a:r>
            <a:endParaRPr lang="en-US" sz="1800" dirty="0"/>
          </a:p>
        </p:txBody>
      </p:sp>
      <p:sp>
        <p:nvSpPr>
          <p:cNvPr id="7" name="Text 4"/>
          <p:cNvSpPr txBox="1"/>
          <p:nvPr/>
        </p:nvSpPr>
        <p:spPr>
          <a:xfrm>
            <a:off x="777240" y="2240280"/>
            <a:ext cx="4929988" cy="822960"/>
          </a:xfrm>
          <a:prstGeom prst="rect">
            <a:avLst/>
          </a:prstGeom>
          <a:noFill/>
          <a:ln/>
        </p:spPr>
        <p:txBody>
          <a:bodyPr wrap="square" lIns="0" tIns="0" rIns="0" bIns="0" rtlCol="0" anchor="t"/>
          <a:lstStyle/>
          <a:p>
            <a:pPr indent="0" marL="0">
              <a:buNone/>
            </a:pPr>
            <a:r>
              <a:rPr lang="en-US" sz="1300" dirty="0">
                <a:solidFill>
                  <a:schemeClr val="tx2"/>
                </a:solidFill>
              </a:rPr>
              <a:t>Migrations ran in a post-install hook, but Helm waits for Ready pods first, and pods were not Ready without tables.</a:t>
            </a:r>
            <a:endParaRPr lang="en-US" sz="1300" dirty="0"/>
          </a:p>
        </p:txBody>
      </p:sp>
      <p:sp>
        <p:nvSpPr>
          <p:cNvPr id="8" name="Text 5"/>
          <p:cNvSpPr txBox="1"/>
          <p:nvPr/>
        </p:nvSpPr>
        <p:spPr>
          <a:xfrm>
            <a:off x="777240" y="310896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initContainer + Postgres advisory lock</a:t>
            </a:r>
            <a:endParaRPr lang="en-US" sz="1300" dirty="0"/>
          </a:p>
        </p:txBody>
      </p:sp>
      <p:sp>
        <p:nvSpPr>
          <p:cNvPr id="9" name="bug"/>
          <p:cNvSpPr/>
          <p:nvPr/>
        </p:nvSpPr>
        <p:spPr>
          <a:xfrm>
            <a:off x="6255868" y="1371600"/>
            <a:ext cx="5387188" cy="2331720"/>
          </a:xfrm>
          <a:prstGeom prst="roundRect">
            <a:avLst>
              <a:gd name="adj" fmla="val 3137"/>
            </a:avLst>
          </a:prstGeom>
          <a:solidFill>
            <a:schemeClr val="bg2"/>
          </a:solidFill>
          <a:ln w="12700">
            <a:solidFill>
              <a:schemeClr val="bg2"/>
            </a:solidFill>
            <a:prstDash val="solid"/>
          </a:ln>
        </p:spPr>
      </p:sp>
      <p:sp>
        <p:nvSpPr>
          <p:cNvPr id="10" name="badge-FaNetworkWired"/>
          <p:cNvSpPr/>
          <p:nvPr/>
        </p:nvSpPr>
        <p:spPr>
          <a:xfrm>
            <a:off x="6484468" y="1600200"/>
            <a:ext cx="502920" cy="502920"/>
          </a:xfrm>
          <a:prstGeom prst="ellipse">
            <a:avLst/>
          </a:prstGeom>
          <a:solidFill>
            <a:schemeClr val="accent1"/>
          </a:solidFill>
          <a:ln w="12700">
            <a:solidFill>
              <a:schemeClr val="accent1"/>
            </a:solidFill>
            <a:prstDash val="solid"/>
          </a:ln>
        </p:spPr>
      </p:sp>
      <p:pic>
        <p:nvPicPr>
          <p:cNvPr id="11" name="icon-FaNetworkWired" descr="preencoded.png">    </p:cNvPr>
          <p:cNvPicPr>
            <a:picLocks noChangeAspect="1"/>
          </p:cNvPicPr>
          <p:nvPr/>
        </p:nvPicPr>
        <p:blipFill>
          <a:blip r:embed="rId2"/>
          <a:stretch>
            <a:fillRect/>
          </a:stretch>
        </p:blipFill>
        <p:spPr>
          <a:xfrm>
            <a:off x="6605168" y="1720901"/>
            <a:ext cx="261518" cy="261518"/>
          </a:xfrm>
          <a:prstGeom prst="rect">
            <a:avLst/>
          </a:prstGeom>
        </p:spPr>
      </p:pic>
      <p:sp>
        <p:nvSpPr>
          <p:cNvPr id="12" name="Text 8"/>
          <p:cNvSpPr txBox="1"/>
          <p:nvPr/>
        </p:nvSpPr>
        <p:spPr>
          <a:xfrm>
            <a:off x="7170268" y="164592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Frontend crash loop</a:t>
            </a:r>
            <a:endParaRPr lang="en-US" sz="1800" dirty="0"/>
          </a:p>
        </p:txBody>
      </p:sp>
      <p:sp>
        <p:nvSpPr>
          <p:cNvPr id="13" name="Text 9"/>
          <p:cNvSpPr txBox="1"/>
          <p:nvPr/>
        </p:nvSpPr>
        <p:spPr>
          <a:xfrm>
            <a:off x="6484468" y="2240280"/>
            <a:ext cx="4929988" cy="822960"/>
          </a:xfrm>
          <a:prstGeom prst="rect">
            <a:avLst/>
          </a:prstGeom>
          <a:noFill/>
          <a:ln/>
        </p:spPr>
        <p:txBody>
          <a:bodyPr wrap="square" lIns="0" tIns="0" rIns="0" bIns="0" rtlCol="0" anchor="t"/>
          <a:lstStyle/>
          <a:p>
            <a:pPr indent="0" marL="0">
              <a:buNone/>
            </a:pPr>
            <a:r>
              <a:rPr lang="en-US" sz="1300" dirty="0">
                <a:solidFill>
                  <a:schemeClr val="tx2"/>
                </a:solidFill>
              </a:rPr>
              <a:t>After a node restart nginx resolved the backend before DNS was up and exited.</a:t>
            </a:r>
            <a:endParaRPr lang="en-US" sz="1300" dirty="0"/>
          </a:p>
        </p:txBody>
      </p:sp>
      <p:sp>
        <p:nvSpPr>
          <p:cNvPr id="14" name="Text 10"/>
          <p:cNvSpPr txBox="1"/>
          <p:nvPr/>
        </p:nvSpPr>
        <p:spPr>
          <a:xfrm>
            <a:off x="6484468" y="310896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Resolve per request with the Service FQDN</a:t>
            </a:r>
            <a:endParaRPr lang="en-US" sz="1300" dirty="0"/>
          </a:p>
        </p:txBody>
      </p:sp>
      <p:sp>
        <p:nvSpPr>
          <p:cNvPr id="15" name="bug"/>
          <p:cNvSpPr/>
          <p:nvPr/>
        </p:nvSpPr>
        <p:spPr>
          <a:xfrm>
            <a:off x="548640" y="3977640"/>
            <a:ext cx="5387188" cy="2331720"/>
          </a:xfrm>
          <a:prstGeom prst="roundRect">
            <a:avLst>
              <a:gd name="adj" fmla="val 3137"/>
            </a:avLst>
          </a:prstGeom>
          <a:solidFill>
            <a:schemeClr val="bg2"/>
          </a:solidFill>
          <a:ln w="12700">
            <a:solidFill>
              <a:schemeClr val="bg2"/>
            </a:solidFill>
            <a:prstDash val="solid"/>
          </a:ln>
        </p:spPr>
      </p:sp>
      <p:sp>
        <p:nvSpPr>
          <p:cNvPr id="16" name="badge-FaShieldHalved"/>
          <p:cNvSpPr/>
          <p:nvPr/>
        </p:nvSpPr>
        <p:spPr>
          <a:xfrm>
            <a:off x="777240" y="4206240"/>
            <a:ext cx="502920" cy="502920"/>
          </a:xfrm>
          <a:prstGeom prst="ellipse">
            <a:avLst/>
          </a:prstGeom>
          <a:solidFill>
            <a:schemeClr val="accent1"/>
          </a:solidFill>
          <a:ln w="12700">
            <a:solidFill>
              <a:schemeClr val="accent1"/>
            </a:solidFill>
            <a:prstDash val="solid"/>
          </a:ln>
        </p:spPr>
      </p:sp>
      <p:pic>
        <p:nvPicPr>
          <p:cNvPr id="17" name="icon-FaShieldHalved" descr="preencoded.png">    </p:cNvPr>
          <p:cNvPicPr>
            <a:picLocks noChangeAspect="1"/>
          </p:cNvPicPr>
          <p:nvPr/>
        </p:nvPicPr>
        <p:blipFill>
          <a:blip r:embed="rId3"/>
          <a:stretch>
            <a:fillRect/>
          </a:stretch>
        </p:blipFill>
        <p:spPr>
          <a:xfrm>
            <a:off x="897941" y="4326941"/>
            <a:ext cx="261518" cy="261518"/>
          </a:xfrm>
          <a:prstGeom prst="rect">
            <a:avLst/>
          </a:prstGeom>
        </p:spPr>
      </p:pic>
      <p:sp>
        <p:nvSpPr>
          <p:cNvPr id="18" name="Text 13"/>
          <p:cNvSpPr txBox="1"/>
          <p:nvPr/>
        </p:nvSpPr>
        <p:spPr>
          <a:xfrm>
            <a:off x="1463040" y="425196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4 HIGH CVEs</a:t>
            </a:r>
            <a:endParaRPr lang="en-US" sz="1800" dirty="0"/>
          </a:p>
        </p:txBody>
      </p:sp>
      <p:sp>
        <p:nvSpPr>
          <p:cNvPr id="19" name="Text 14"/>
          <p:cNvSpPr txBox="1"/>
          <p:nvPr/>
        </p:nvSpPr>
        <p:spPr>
          <a:xfrm>
            <a:off x="777240" y="4846320"/>
            <a:ext cx="4929988" cy="822960"/>
          </a:xfrm>
          <a:prstGeom prst="rect">
            <a:avLst/>
          </a:prstGeom>
          <a:noFill/>
          <a:ln/>
        </p:spPr>
        <p:txBody>
          <a:bodyPr wrap="square" lIns="0" tIns="0" rIns="0" bIns="0" rtlCol="0" anchor="t"/>
          <a:lstStyle/>
          <a:p>
            <a:pPr indent="0" marL="0">
              <a:buNone/>
            </a:pPr>
            <a:r>
              <a:rPr lang="en-US" sz="1300" dirty="0">
                <a:solidFill>
                  <a:schemeClr val="tx2"/>
                </a:solidFill>
              </a:rPr>
              <a:t>Trivy blocked the backend image: pip's vendored urllib3, msgpack, setuptools.</a:t>
            </a:r>
            <a:endParaRPr lang="en-US" sz="1300" dirty="0"/>
          </a:p>
        </p:txBody>
      </p:sp>
      <p:sp>
        <p:nvSpPr>
          <p:cNvPr id="20" name="Text 15"/>
          <p:cNvSpPr txBox="1"/>
          <p:nvPr/>
        </p:nvSpPr>
        <p:spPr>
          <a:xfrm>
            <a:off x="777240" y="571500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Remove pip from the runtime image</a:t>
            </a:r>
            <a:endParaRPr lang="en-US" sz="1300" dirty="0"/>
          </a:p>
        </p:txBody>
      </p:sp>
      <p:sp>
        <p:nvSpPr>
          <p:cNvPr id="21" name="bug"/>
          <p:cNvSpPr/>
          <p:nvPr/>
        </p:nvSpPr>
        <p:spPr>
          <a:xfrm>
            <a:off x="6255868" y="3977640"/>
            <a:ext cx="5387188" cy="2331720"/>
          </a:xfrm>
          <a:prstGeom prst="roundRect">
            <a:avLst>
              <a:gd name="adj" fmla="val 3137"/>
            </a:avLst>
          </a:prstGeom>
          <a:solidFill>
            <a:schemeClr val="bg2"/>
          </a:solidFill>
          <a:ln w="12700">
            <a:solidFill>
              <a:schemeClr val="bg2"/>
            </a:solidFill>
            <a:prstDash val="solid"/>
          </a:ln>
        </p:spPr>
      </p:sp>
      <p:sp>
        <p:nvSpPr>
          <p:cNvPr id="22" name="badge-FaChartLine"/>
          <p:cNvSpPr/>
          <p:nvPr/>
        </p:nvSpPr>
        <p:spPr>
          <a:xfrm>
            <a:off x="6484468" y="4206240"/>
            <a:ext cx="502920" cy="502920"/>
          </a:xfrm>
          <a:prstGeom prst="ellipse">
            <a:avLst/>
          </a:prstGeom>
          <a:solidFill>
            <a:schemeClr val="accent1"/>
          </a:solidFill>
          <a:ln w="12700">
            <a:solidFill>
              <a:schemeClr val="accent1"/>
            </a:solidFill>
            <a:prstDash val="solid"/>
          </a:ln>
        </p:spPr>
      </p:sp>
      <p:pic>
        <p:nvPicPr>
          <p:cNvPr id="23" name="icon-FaChartLine" descr="preencoded.png">    </p:cNvPr>
          <p:cNvPicPr>
            <a:picLocks noChangeAspect="1"/>
          </p:cNvPicPr>
          <p:nvPr/>
        </p:nvPicPr>
        <p:blipFill>
          <a:blip r:embed="rId4"/>
          <a:stretch>
            <a:fillRect/>
          </a:stretch>
        </p:blipFill>
        <p:spPr>
          <a:xfrm>
            <a:off x="6605168" y="4326941"/>
            <a:ext cx="261518" cy="261518"/>
          </a:xfrm>
          <a:prstGeom prst="rect">
            <a:avLst/>
          </a:prstGeom>
        </p:spPr>
      </p:pic>
      <p:sp>
        <p:nvSpPr>
          <p:cNvPr id="24" name="Text 18"/>
          <p:cNvSpPr txBox="1"/>
          <p:nvPr/>
        </p:nvSpPr>
        <p:spPr>
          <a:xfrm>
            <a:off x="7170268" y="425196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Wrong checkout counts</a:t>
            </a:r>
            <a:endParaRPr lang="en-US" sz="1800" dirty="0"/>
          </a:p>
        </p:txBody>
      </p:sp>
      <p:sp>
        <p:nvSpPr>
          <p:cNvPr id="25" name="Text 19"/>
          <p:cNvSpPr txBox="1"/>
          <p:nvPr/>
        </p:nvSpPr>
        <p:spPr>
          <a:xfrm>
            <a:off x="6484468" y="4846320"/>
            <a:ext cx="4929988" cy="822960"/>
          </a:xfrm>
          <a:prstGeom prst="rect">
            <a:avLst/>
          </a:prstGeom>
          <a:noFill/>
          <a:ln/>
        </p:spPr>
        <p:txBody>
          <a:bodyPr wrap="square" lIns="0" tIns="0" rIns="0" bIns="0" rtlCol="0" anchor="t"/>
          <a:lstStyle/>
          <a:p>
            <a:pPr indent="0" marL="0">
              <a:buNone/>
            </a:pPr>
            <a:r>
              <a:rPr lang="en-US" sz="1300" dirty="0">
                <a:solidFill>
                  <a:schemeClr val="tx2"/>
                </a:solidFill>
              </a:rPr>
              <a:t>Per-pod counters lose the first event and disagree across replicas.</a:t>
            </a:r>
            <a:endParaRPr lang="en-US" sz="1300" dirty="0"/>
          </a:p>
        </p:txBody>
      </p:sp>
      <p:sp>
        <p:nvSpPr>
          <p:cNvPr id="26" name="Text 20"/>
          <p:cNvSpPr txBox="1"/>
          <p:nvPr/>
        </p:nvSpPr>
        <p:spPr>
          <a:xfrm>
            <a:off x="6484468" y="571500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Gauge read from the DB at scrape time</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Troubleshooting lab: 5 broken manifests</a:t>
            </a:r>
            <a:endParaRPr lang="en-US" sz="3400" dirty="0"/>
          </a:p>
        </p:txBody>
      </p:sp>
      <p:pic>
        <p:nvPicPr>
          <p:cNvPr id="3" name="img-32-troubleshooting-lab.png" descr="32-troubleshooting-lab.png">    </p:cNvPr>
          <p:cNvPicPr>
            <a:picLocks noChangeAspect="1"/>
          </p:cNvPicPr>
          <p:nvPr/>
        </p:nvPicPr>
        <p:blipFill>
          <a:blip r:embed="rId1"/>
          <a:stretch>
            <a:fillRect/>
          </a:stretch>
        </p:blipFill>
        <p:spPr>
          <a:xfrm>
            <a:off x="548640" y="1325880"/>
            <a:ext cx="6766560" cy="4748311"/>
          </a:xfrm>
          <a:prstGeom prst="rect">
            <a:avLst/>
          </a:prstGeom>
          <a:effectLst>
            <a:outerShdw sx="100000" sy="100000" kx="0" ky="0" algn="bl" rotWithShape="0" blurRad="127000" dist="38100" dir="5400000">
              <a:srgbClr val="3B2A1E">
                <a:alpha val="22000"/>
              </a:srgbClr>
            </a:outerShdw>
          </a:effectLst>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635240" y="1371600"/>
          <a:ext cx="4007815" cy="914400"/>
        </p:xfrm>
        <a:graphic>
          <a:graphicData uri="http://schemas.openxmlformats.org/drawingml/2006/table">
            <a:tbl>
              <a:tblPr/>
              <a:tblGrid>
                <a:gridCol w="1600200"/>
                <a:gridCol w="2407615"/>
              </a:tblGrid>
              <a:tr h="502920">
                <a:tc>
                  <a:txBody>
                    <a:bodyPr/>
                    <a:lstStyle/>
                    <a:p>
                      <a:pPr indent="0" marL="0">
                        <a:buNone/>
                      </a:pPr>
                      <a:r>
                        <a:rPr lang="en-US" sz="1200" b="1" dirty="0">
                          <a:solidFill>
                            <a:schemeClr val="bg1"/>
                          </a:solidFill>
                        </a:rPr>
                        <a:t>Symptom</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Root cause</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r>
              <a:tr h="502920">
                <a:tc>
                  <a:txBody>
                    <a:bodyPr/>
                    <a:lstStyle/>
                    <a:p>
                      <a:pPr indent="0" marL="0">
                        <a:buNone/>
                      </a:pPr>
                      <a:r>
                        <a:rPr lang="en-US" sz="1200" b="1" dirty="0">
                          <a:solidFill>
                            <a:schemeClr val="accent4"/>
                          </a:solidFill>
                        </a:rPr>
                        <a:t>ImagePullBackOff</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tag that was never pushed</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accent4"/>
                          </a:solidFill>
                        </a:rPr>
                        <a:t>No endpoints</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Service selector matches no pods</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accent4"/>
                          </a:solidFill>
                        </a:rPr>
                        <a:t>Running, not Ready</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wrong DB password → /ready 503</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accent4"/>
                          </a:solidFill>
                        </a:rPr>
                        <a:t>OOMKilled (137)</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memory limit below real usage</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accent4"/>
                          </a:solidFill>
                        </a:rPr>
                        <a:t>Ingress 503</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points at Service port 8080, not 8000</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Text 1"/>
          <p:cNvSpPr txBox="1"/>
          <p:nvPr/>
        </p:nvSpPr>
        <p:spPr>
          <a:xfrm>
            <a:off x="7635240" y="4709160"/>
            <a:ext cx="4007815" cy="1097280"/>
          </a:xfrm>
          <a:prstGeom prst="rect">
            <a:avLst/>
          </a:prstGeom>
          <a:noFill/>
          <a:ln/>
        </p:spPr>
        <p:txBody>
          <a:bodyPr wrap="square" lIns="0" tIns="0" rIns="0" bIns="0" rtlCol="0" anchor="t"/>
          <a:lstStyle/>
          <a:p>
            <a:pPr indent="0" marL="0">
              <a:buNone/>
            </a:pPr>
            <a:r>
              <a:rPr lang="en-US" sz="1300" dirty="0">
                <a:solidFill>
                  <a:schemeClr val="tx2"/>
                </a:solidFill>
              </a:rPr>
              <a:t>Each scenario has a guided diagnosis and fix in troubleshooting/README.md. All five were applied to the cluster and produce exactly the documented symptom.</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Key learnings</a:t>
            </a:r>
            <a:endParaRPr lang="en-US" sz="3400" dirty="0"/>
          </a:p>
        </p:txBody>
      </p:sp>
      <p:sp>
        <p:nvSpPr>
          <p:cNvPr id="3" name="lesson"/>
          <p:cNvSpPr/>
          <p:nvPr/>
        </p:nvSpPr>
        <p:spPr>
          <a:xfrm>
            <a:off x="548640" y="1371600"/>
            <a:ext cx="5387188" cy="1371600"/>
          </a:xfrm>
          <a:prstGeom prst="roundRect">
            <a:avLst>
              <a:gd name="adj" fmla="val 5333"/>
            </a:avLst>
          </a:prstGeom>
          <a:solidFill>
            <a:schemeClr val="bg2"/>
          </a:solidFill>
          <a:ln w="12700">
            <a:solidFill>
              <a:schemeClr val="bg2"/>
            </a:solidFill>
            <a:prstDash val="solid"/>
          </a:ln>
        </p:spPr>
      </p:sp>
      <p:sp>
        <p:nvSpPr>
          <p:cNvPr id="4" name="badge-FaRotate"/>
          <p:cNvSpPr/>
          <p:nvPr/>
        </p:nvSpPr>
        <p:spPr>
          <a:xfrm>
            <a:off x="777240" y="1645920"/>
            <a:ext cx="502920" cy="502920"/>
          </a:xfrm>
          <a:prstGeom prst="ellipse">
            <a:avLst/>
          </a:prstGeom>
          <a:solidFill>
            <a:schemeClr val="accent1"/>
          </a:solidFill>
          <a:ln w="12700">
            <a:solidFill>
              <a:schemeClr val="accent1"/>
            </a:solidFill>
            <a:prstDash val="solid"/>
          </a:ln>
        </p:spPr>
      </p:sp>
      <p:pic>
        <p:nvPicPr>
          <p:cNvPr id="5" name="icon-FaRotate" descr="preencoded.png">    </p:cNvPr>
          <p:cNvPicPr>
            <a:picLocks noChangeAspect="1"/>
          </p:cNvPicPr>
          <p:nvPr/>
        </p:nvPicPr>
        <p:blipFill>
          <a:blip r:embed="rId1"/>
          <a:stretch>
            <a:fillRect/>
          </a:stretch>
        </p:blipFill>
        <p:spPr>
          <a:xfrm>
            <a:off x="897941" y="1766621"/>
            <a:ext cx="261518" cy="261518"/>
          </a:xfrm>
          <a:prstGeom prst="rect">
            <a:avLst/>
          </a:prstGeom>
        </p:spPr>
      </p:pic>
      <p:sp>
        <p:nvSpPr>
          <p:cNvPr id="6" name="Text 3"/>
          <p:cNvSpPr txBox="1"/>
          <p:nvPr/>
        </p:nvSpPr>
        <p:spPr>
          <a:xfrm>
            <a:off x="1463040" y="1572768"/>
            <a:ext cx="4289908" cy="411480"/>
          </a:xfrm>
          <a:prstGeom prst="rect">
            <a:avLst/>
          </a:prstGeom>
          <a:noFill/>
          <a:ln/>
        </p:spPr>
        <p:txBody>
          <a:bodyPr wrap="square" lIns="0" tIns="0" rIns="0" bIns="0" rtlCol="0" anchor="ctr"/>
          <a:lstStyle/>
          <a:p>
            <a:pPr indent="0" marL="0">
              <a:buNone/>
            </a:pPr>
            <a:r>
              <a:rPr lang="en-US" sz="1700" b="1" dirty="0">
                <a:solidFill>
                  <a:schemeClr val="tx1"/>
                </a:solidFill>
              </a:rPr>
              <a:t>Test on a real cluster</a:t>
            </a:r>
            <a:endParaRPr lang="en-US" sz="1700" dirty="0"/>
          </a:p>
        </p:txBody>
      </p:sp>
      <p:sp>
        <p:nvSpPr>
          <p:cNvPr id="7" name="Text 4"/>
          <p:cNvSpPr txBox="1"/>
          <p:nvPr/>
        </p:nvSpPr>
        <p:spPr>
          <a:xfrm>
            <a:off x="1463040" y="2029968"/>
            <a:ext cx="4289908" cy="640080"/>
          </a:xfrm>
          <a:prstGeom prst="rect">
            <a:avLst/>
          </a:prstGeom>
          <a:noFill/>
          <a:ln/>
        </p:spPr>
        <p:txBody>
          <a:bodyPr wrap="square" lIns="0" tIns="0" rIns="0" bIns="0" rtlCol="0" anchor="t"/>
          <a:lstStyle/>
          <a:p>
            <a:pPr indent="0" marL="0">
              <a:buNone/>
            </a:pPr>
            <a:r>
              <a:rPr lang="en-US" sz="1300" dirty="0">
                <a:solidFill>
                  <a:schemeClr val="tx2"/>
                </a:solidFill>
              </a:rPr>
              <a:t>Unit tests passed for all four bugs on the previous slide; only real installs, restarts and scans exposed them.</a:t>
            </a:r>
            <a:endParaRPr lang="en-US" sz="1300" dirty="0"/>
          </a:p>
        </p:txBody>
      </p:sp>
      <p:sp>
        <p:nvSpPr>
          <p:cNvPr id="8" name="lesson"/>
          <p:cNvSpPr/>
          <p:nvPr/>
        </p:nvSpPr>
        <p:spPr>
          <a:xfrm>
            <a:off x="6255868" y="1371600"/>
            <a:ext cx="5387188" cy="1371600"/>
          </a:xfrm>
          <a:prstGeom prst="roundRect">
            <a:avLst>
              <a:gd name="adj" fmla="val 5333"/>
            </a:avLst>
          </a:prstGeom>
          <a:solidFill>
            <a:schemeClr val="bg2"/>
          </a:solidFill>
          <a:ln w="12700">
            <a:solidFill>
              <a:schemeClr val="bg2"/>
            </a:solidFill>
            <a:prstDash val="solid"/>
          </a:ln>
        </p:spPr>
      </p:sp>
      <p:sp>
        <p:nvSpPr>
          <p:cNvPr id="9" name="badge-FaHeartPulse"/>
          <p:cNvSpPr/>
          <p:nvPr/>
        </p:nvSpPr>
        <p:spPr>
          <a:xfrm>
            <a:off x="6484468" y="1645920"/>
            <a:ext cx="502920" cy="502920"/>
          </a:xfrm>
          <a:prstGeom prst="ellipse">
            <a:avLst/>
          </a:prstGeom>
          <a:solidFill>
            <a:schemeClr val="accent1"/>
          </a:solidFill>
          <a:ln w="12700">
            <a:solidFill>
              <a:schemeClr val="accent1"/>
            </a:solidFill>
            <a:prstDash val="solid"/>
          </a:ln>
        </p:spPr>
      </p:sp>
      <p:pic>
        <p:nvPicPr>
          <p:cNvPr id="10" name="icon-FaHeartPulse" descr="preencoded.png">    </p:cNvPr>
          <p:cNvPicPr>
            <a:picLocks noChangeAspect="1"/>
          </p:cNvPicPr>
          <p:nvPr/>
        </p:nvPicPr>
        <p:blipFill>
          <a:blip r:embed="rId2"/>
          <a:stretch>
            <a:fillRect/>
          </a:stretch>
        </p:blipFill>
        <p:spPr>
          <a:xfrm>
            <a:off x="6605168" y="1766621"/>
            <a:ext cx="261518" cy="261518"/>
          </a:xfrm>
          <a:prstGeom prst="rect">
            <a:avLst/>
          </a:prstGeom>
        </p:spPr>
      </p:pic>
      <p:sp>
        <p:nvSpPr>
          <p:cNvPr id="11" name="Text 7"/>
          <p:cNvSpPr txBox="1"/>
          <p:nvPr/>
        </p:nvSpPr>
        <p:spPr>
          <a:xfrm>
            <a:off x="7170268" y="1572768"/>
            <a:ext cx="4289908" cy="411480"/>
          </a:xfrm>
          <a:prstGeom prst="rect">
            <a:avLst/>
          </a:prstGeom>
          <a:noFill/>
          <a:ln/>
        </p:spPr>
        <p:txBody>
          <a:bodyPr wrap="square" lIns="0" tIns="0" rIns="0" bIns="0" rtlCol="0" anchor="ctr"/>
          <a:lstStyle/>
          <a:p>
            <a:pPr indent="0" marL="0">
              <a:buNone/>
            </a:pPr>
            <a:r>
              <a:rPr lang="en-US" sz="1700" b="1" dirty="0">
                <a:solidFill>
                  <a:schemeClr val="tx1"/>
                </a:solidFill>
              </a:rPr>
              <a:t>Readiness is not liveness</a:t>
            </a:r>
            <a:endParaRPr lang="en-US" sz="1700" dirty="0"/>
          </a:p>
        </p:txBody>
      </p:sp>
      <p:sp>
        <p:nvSpPr>
          <p:cNvPr id="12" name="Text 8"/>
          <p:cNvSpPr txBox="1"/>
          <p:nvPr/>
        </p:nvSpPr>
        <p:spPr>
          <a:xfrm>
            <a:off x="7170268" y="2029968"/>
            <a:ext cx="4289908" cy="640080"/>
          </a:xfrm>
          <a:prstGeom prst="rect">
            <a:avLst/>
          </a:prstGeom>
          <a:noFill/>
          <a:ln/>
        </p:spPr>
        <p:txBody>
          <a:bodyPr wrap="square" lIns="0" tIns="0" rIns="0" bIns="0" rtlCol="0" anchor="t"/>
          <a:lstStyle/>
          <a:p>
            <a:pPr indent="0" marL="0">
              <a:buNone/>
            </a:pPr>
            <a:r>
              <a:rPr lang="en-US" sz="1300" dirty="0">
                <a:solidFill>
                  <a:schemeClr val="tx2"/>
                </a:solidFill>
              </a:rPr>
              <a:t>A bad DB password should stop traffic (/ready), not restart-loop the pod (/health).</a:t>
            </a:r>
            <a:endParaRPr lang="en-US" sz="1300" dirty="0"/>
          </a:p>
        </p:txBody>
      </p:sp>
      <p:sp>
        <p:nvSpPr>
          <p:cNvPr id="13" name="lesson"/>
          <p:cNvSpPr/>
          <p:nvPr/>
        </p:nvSpPr>
        <p:spPr>
          <a:xfrm>
            <a:off x="548640" y="2971800"/>
            <a:ext cx="5387188" cy="1371600"/>
          </a:xfrm>
          <a:prstGeom prst="roundRect">
            <a:avLst>
              <a:gd name="adj" fmla="val 5333"/>
            </a:avLst>
          </a:prstGeom>
          <a:solidFill>
            <a:schemeClr val="bg2"/>
          </a:solidFill>
          <a:ln w="12700">
            <a:solidFill>
              <a:schemeClr val="bg2"/>
            </a:solidFill>
            <a:prstDash val="solid"/>
          </a:ln>
        </p:spPr>
      </p:sp>
      <p:sp>
        <p:nvSpPr>
          <p:cNvPr id="14" name="badge-FaCodeBranch"/>
          <p:cNvSpPr/>
          <p:nvPr/>
        </p:nvSpPr>
        <p:spPr>
          <a:xfrm>
            <a:off x="777240" y="3246120"/>
            <a:ext cx="502920" cy="502920"/>
          </a:xfrm>
          <a:prstGeom prst="ellipse">
            <a:avLst/>
          </a:prstGeom>
          <a:solidFill>
            <a:schemeClr val="accent1"/>
          </a:solidFill>
          <a:ln w="12700">
            <a:solidFill>
              <a:schemeClr val="accent1"/>
            </a:solidFill>
            <a:prstDash val="solid"/>
          </a:ln>
        </p:spPr>
      </p:sp>
      <p:pic>
        <p:nvPicPr>
          <p:cNvPr id="15" name="icon-FaCodeBranch" descr="preencoded.png">    </p:cNvPr>
          <p:cNvPicPr>
            <a:picLocks noChangeAspect="1"/>
          </p:cNvPicPr>
          <p:nvPr/>
        </p:nvPicPr>
        <p:blipFill>
          <a:blip r:embed="rId3"/>
          <a:stretch>
            <a:fillRect/>
          </a:stretch>
        </p:blipFill>
        <p:spPr>
          <a:xfrm>
            <a:off x="897941" y="3366821"/>
            <a:ext cx="261518" cy="261518"/>
          </a:xfrm>
          <a:prstGeom prst="rect">
            <a:avLst/>
          </a:prstGeom>
        </p:spPr>
      </p:pic>
      <p:sp>
        <p:nvSpPr>
          <p:cNvPr id="16" name="Text 11"/>
          <p:cNvSpPr txBox="1"/>
          <p:nvPr/>
        </p:nvSpPr>
        <p:spPr>
          <a:xfrm>
            <a:off x="1463040" y="3172968"/>
            <a:ext cx="4289908" cy="411480"/>
          </a:xfrm>
          <a:prstGeom prst="rect">
            <a:avLst/>
          </a:prstGeom>
          <a:noFill/>
          <a:ln/>
        </p:spPr>
        <p:txBody>
          <a:bodyPr wrap="square" lIns="0" tIns="0" rIns="0" bIns="0" rtlCol="0" anchor="ctr"/>
          <a:lstStyle/>
          <a:p>
            <a:pPr indent="0" marL="0">
              <a:buNone/>
            </a:pPr>
            <a:r>
              <a:rPr lang="en-US" sz="1700" b="1" dirty="0">
                <a:solidFill>
                  <a:schemeClr val="tx1"/>
                </a:solidFill>
              </a:rPr>
              <a:t>Pull beats push for deploys</a:t>
            </a:r>
            <a:endParaRPr lang="en-US" sz="1700" dirty="0"/>
          </a:p>
        </p:txBody>
      </p:sp>
      <p:sp>
        <p:nvSpPr>
          <p:cNvPr id="17" name="Text 12"/>
          <p:cNvSpPr txBox="1"/>
          <p:nvPr/>
        </p:nvSpPr>
        <p:spPr>
          <a:xfrm>
            <a:off x="1463040" y="3630168"/>
            <a:ext cx="4289908" cy="640080"/>
          </a:xfrm>
          <a:prstGeom prst="rect">
            <a:avLst/>
          </a:prstGeom>
          <a:noFill/>
          <a:ln/>
        </p:spPr>
        <p:txBody>
          <a:bodyPr wrap="square" lIns="0" tIns="0" rIns="0" bIns="0" rtlCol="0" anchor="t"/>
          <a:lstStyle/>
          <a:p>
            <a:pPr indent="0" marL="0">
              <a:buNone/>
            </a:pPr>
            <a:r>
              <a:rPr lang="en-US" sz="1300" dirty="0">
                <a:solidFill>
                  <a:schemeClr val="tx2"/>
                </a:solidFill>
              </a:rPr>
              <a:t>With GitOps, Git is the record of what runs, and CI needs no cluster credentials.</a:t>
            </a:r>
            <a:endParaRPr lang="en-US" sz="1300" dirty="0"/>
          </a:p>
        </p:txBody>
      </p:sp>
      <p:sp>
        <p:nvSpPr>
          <p:cNvPr id="18" name="lesson"/>
          <p:cNvSpPr/>
          <p:nvPr/>
        </p:nvSpPr>
        <p:spPr>
          <a:xfrm>
            <a:off x="6255868" y="2971800"/>
            <a:ext cx="5387188" cy="1371600"/>
          </a:xfrm>
          <a:prstGeom prst="roundRect">
            <a:avLst>
              <a:gd name="adj" fmla="val 5333"/>
            </a:avLst>
          </a:prstGeom>
          <a:solidFill>
            <a:schemeClr val="bg2"/>
          </a:solidFill>
          <a:ln w="12700">
            <a:solidFill>
              <a:schemeClr val="bg2"/>
            </a:solidFill>
            <a:prstDash val="solid"/>
          </a:ln>
        </p:spPr>
      </p:sp>
      <p:sp>
        <p:nvSpPr>
          <p:cNvPr id="19" name="badge-FaShieldHalved"/>
          <p:cNvSpPr/>
          <p:nvPr/>
        </p:nvSpPr>
        <p:spPr>
          <a:xfrm>
            <a:off x="6484468" y="3246120"/>
            <a:ext cx="502920" cy="502920"/>
          </a:xfrm>
          <a:prstGeom prst="ellipse">
            <a:avLst/>
          </a:prstGeom>
          <a:solidFill>
            <a:schemeClr val="accent1"/>
          </a:solidFill>
          <a:ln w="12700">
            <a:solidFill>
              <a:schemeClr val="accent1"/>
            </a:solidFill>
            <a:prstDash val="solid"/>
          </a:ln>
        </p:spPr>
      </p:sp>
      <p:pic>
        <p:nvPicPr>
          <p:cNvPr id="20" name="icon-FaShieldHalved" descr="preencoded.png">    </p:cNvPr>
          <p:cNvPicPr>
            <a:picLocks noChangeAspect="1"/>
          </p:cNvPicPr>
          <p:nvPr/>
        </p:nvPicPr>
        <p:blipFill>
          <a:blip r:embed="rId4"/>
          <a:stretch>
            <a:fillRect/>
          </a:stretch>
        </p:blipFill>
        <p:spPr>
          <a:xfrm>
            <a:off x="6605168" y="3366821"/>
            <a:ext cx="261518" cy="261518"/>
          </a:xfrm>
          <a:prstGeom prst="rect">
            <a:avLst/>
          </a:prstGeom>
        </p:spPr>
      </p:pic>
      <p:sp>
        <p:nvSpPr>
          <p:cNvPr id="21" name="Text 15"/>
          <p:cNvSpPr txBox="1"/>
          <p:nvPr/>
        </p:nvSpPr>
        <p:spPr>
          <a:xfrm>
            <a:off x="7170268" y="3172968"/>
            <a:ext cx="4289908" cy="411480"/>
          </a:xfrm>
          <a:prstGeom prst="rect">
            <a:avLst/>
          </a:prstGeom>
          <a:noFill/>
          <a:ln/>
        </p:spPr>
        <p:txBody>
          <a:bodyPr wrap="square" lIns="0" tIns="0" rIns="0" bIns="0" rtlCol="0" anchor="ctr"/>
          <a:lstStyle/>
          <a:p>
            <a:pPr indent="0" marL="0">
              <a:buNone/>
            </a:pPr>
            <a:r>
              <a:rPr lang="en-US" sz="1700" b="1" dirty="0">
                <a:solidFill>
                  <a:schemeClr val="tx1"/>
                </a:solidFill>
              </a:rPr>
              <a:t>Fix CVEs at the source</a:t>
            </a:r>
            <a:endParaRPr lang="en-US" sz="1700" dirty="0"/>
          </a:p>
        </p:txBody>
      </p:sp>
      <p:sp>
        <p:nvSpPr>
          <p:cNvPr id="22" name="Text 16"/>
          <p:cNvSpPr txBox="1"/>
          <p:nvPr/>
        </p:nvSpPr>
        <p:spPr>
          <a:xfrm>
            <a:off x="7170268" y="3630168"/>
            <a:ext cx="4289908" cy="640080"/>
          </a:xfrm>
          <a:prstGeom prst="rect">
            <a:avLst/>
          </a:prstGeom>
          <a:noFill/>
          <a:ln/>
        </p:spPr>
        <p:txBody>
          <a:bodyPr wrap="square" lIns="0" tIns="0" rIns="0" bIns="0" rtlCol="0" anchor="t"/>
          <a:lstStyle/>
          <a:p>
            <a:pPr indent="0" marL="0">
              <a:buNone/>
            </a:pPr>
            <a:r>
              <a:rPr lang="en-US" sz="1300" dirty="0">
                <a:solidFill>
                  <a:schemeClr val="tx2"/>
                </a:solidFill>
              </a:rPr>
              <a:t>Removing pip from the image beat ignoring four HIGH findings.</a:t>
            </a:r>
            <a:endParaRPr lang="en-US" sz="1300" dirty="0"/>
          </a:p>
        </p:txBody>
      </p:sp>
      <p:sp>
        <p:nvSpPr>
          <p:cNvPr id="23" name="lesson"/>
          <p:cNvSpPr/>
          <p:nvPr/>
        </p:nvSpPr>
        <p:spPr>
          <a:xfrm>
            <a:off x="548640" y="4572000"/>
            <a:ext cx="5387188" cy="1371600"/>
          </a:xfrm>
          <a:prstGeom prst="roundRect">
            <a:avLst>
              <a:gd name="adj" fmla="val 5333"/>
            </a:avLst>
          </a:prstGeom>
          <a:solidFill>
            <a:schemeClr val="bg2"/>
          </a:solidFill>
          <a:ln w="12700">
            <a:solidFill>
              <a:schemeClr val="bg2"/>
            </a:solidFill>
            <a:prstDash val="solid"/>
          </a:ln>
        </p:spPr>
      </p:sp>
      <p:sp>
        <p:nvSpPr>
          <p:cNvPr id="24" name="badge-FaLock"/>
          <p:cNvSpPr/>
          <p:nvPr/>
        </p:nvSpPr>
        <p:spPr>
          <a:xfrm>
            <a:off x="777240" y="4846320"/>
            <a:ext cx="502920" cy="502920"/>
          </a:xfrm>
          <a:prstGeom prst="ellipse">
            <a:avLst/>
          </a:prstGeom>
          <a:solidFill>
            <a:schemeClr val="accent1"/>
          </a:solidFill>
          <a:ln w="12700">
            <a:solidFill>
              <a:schemeClr val="accent1"/>
            </a:solidFill>
            <a:prstDash val="solid"/>
          </a:ln>
        </p:spPr>
      </p:sp>
      <p:pic>
        <p:nvPicPr>
          <p:cNvPr id="25" name="icon-FaLock" descr="preencoded.png">    </p:cNvPr>
          <p:cNvPicPr>
            <a:picLocks noChangeAspect="1"/>
          </p:cNvPicPr>
          <p:nvPr/>
        </p:nvPicPr>
        <p:blipFill>
          <a:blip r:embed="rId5"/>
          <a:stretch>
            <a:fillRect/>
          </a:stretch>
        </p:blipFill>
        <p:spPr>
          <a:xfrm>
            <a:off x="897941" y="4967021"/>
            <a:ext cx="261518" cy="261518"/>
          </a:xfrm>
          <a:prstGeom prst="rect">
            <a:avLst/>
          </a:prstGeom>
        </p:spPr>
      </p:pic>
      <p:sp>
        <p:nvSpPr>
          <p:cNvPr id="26" name="Text 19"/>
          <p:cNvSpPr txBox="1"/>
          <p:nvPr/>
        </p:nvSpPr>
        <p:spPr>
          <a:xfrm>
            <a:off x="1463040" y="4773168"/>
            <a:ext cx="4289908" cy="411480"/>
          </a:xfrm>
          <a:prstGeom prst="rect">
            <a:avLst/>
          </a:prstGeom>
          <a:noFill/>
          <a:ln/>
        </p:spPr>
        <p:txBody>
          <a:bodyPr wrap="square" lIns="0" tIns="0" rIns="0" bIns="0" rtlCol="0" anchor="ctr"/>
          <a:lstStyle/>
          <a:p>
            <a:pPr indent="0" marL="0">
              <a:buNone/>
            </a:pPr>
            <a:r>
              <a:rPr lang="en-US" sz="1700" b="1" dirty="0">
                <a:solidFill>
                  <a:schemeClr val="tx1"/>
                </a:solidFill>
              </a:rPr>
              <a:t>Own what you create</a:t>
            </a:r>
            <a:endParaRPr lang="en-US" sz="1700" dirty="0"/>
          </a:p>
        </p:txBody>
      </p:sp>
      <p:sp>
        <p:nvSpPr>
          <p:cNvPr id="27" name="Text 20"/>
          <p:cNvSpPr txBox="1"/>
          <p:nvPr/>
        </p:nvSpPr>
        <p:spPr>
          <a:xfrm>
            <a:off x="1463040" y="5230368"/>
            <a:ext cx="4289908" cy="640080"/>
          </a:xfrm>
          <a:prstGeom prst="rect">
            <a:avLst/>
          </a:prstGeom>
          <a:noFill/>
          <a:ln/>
        </p:spPr>
        <p:txBody>
          <a:bodyPr wrap="square" lIns="0" tIns="0" rIns="0" bIns="0" rtlCol="0" anchor="t"/>
          <a:lstStyle/>
          <a:p>
            <a:pPr indent="0" marL="0">
              <a:buNone/>
            </a:pPr>
            <a:r>
              <a:rPr lang="en-US" sz="1300" dirty="0">
                <a:solidFill>
                  <a:schemeClr val="tx2"/>
                </a:solidFill>
              </a:rPr>
              <a:t>Terraform owning the namespaces made destroy leave nothing behind.</a:t>
            </a:r>
            <a:endParaRPr lang="en-US" sz="1300" dirty="0"/>
          </a:p>
        </p:txBody>
      </p:sp>
      <p:sp>
        <p:nvSpPr>
          <p:cNvPr id="28" name="lesson"/>
          <p:cNvSpPr/>
          <p:nvPr/>
        </p:nvSpPr>
        <p:spPr>
          <a:xfrm>
            <a:off x="6255868" y="4572000"/>
            <a:ext cx="5387188" cy="1371600"/>
          </a:xfrm>
          <a:prstGeom prst="roundRect">
            <a:avLst>
              <a:gd name="adj" fmla="val 5333"/>
            </a:avLst>
          </a:prstGeom>
          <a:solidFill>
            <a:schemeClr val="bg2"/>
          </a:solidFill>
          <a:ln w="12700">
            <a:solidFill>
              <a:schemeClr val="bg2"/>
            </a:solidFill>
            <a:prstDash val="solid"/>
          </a:ln>
        </p:spPr>
      </p:sp>
      <p:sp>
        <p:nvSpPr>
          <p:cNvPr id="29" name="badge-FaChartLine"/>
          <p:cNvSpPr/>
          <p:nvPr/>
        </p:nvSpPr>
        <p:spPr>
          <a:xfrm>
            <a:off x="6484468" y="4846320"/>
            <a:ext cx="502920" cy="502920"/>
          </a:xfrm>
          <a:prstGeom prst="ellipse">
            <a:avLst/>
          </a:prstGeom>
          <a:solidFill>
            <a:schemeClr val="accent1"/>
          </a:solidFill>
          <a:ln w="12700">
            <a:solidFill>
              <a:schemeClr val="accent1"/>
            </a:solidFill>
            <a:prstDash val="solid"/>
          </a:ln>
        </p:spPr>
      </p:sp>
      <p:pic>
        <p:nvPicPr>
          <p:cNvPr id="30" name="icon-FaChartLine" descr="preencoded.png">    </p:cNvPr>
          <p:cNvPicPr>
            <a:picLocks noChangeAspect="1"/>
          </p:cNvPicPr>
          <p:nvPr/>
        </p:nvPicPr>
        <p:blipFill>
          <a:blip r:embed="rId6"/>
          <a:stretch>
            <a:fillRect/>
          </a:stretch>
        </p:blipFill>
        <p:spPr>
          <a:xfrm>
            <a:off x="6605168" y="4967021"/>
            <a:ext cx="261518" cy="261518"/>
          </a:xfrm>
          <a:prstGeom prst="rect">
            <a:avLst/>
          </a:prstGeom>
        </p:spPr>
      </p:pic>
      <p:sp>
        <p:nvSpPr>
          <p:cNvPr id="31" name="Text 23"/>
          <p:cNvSpPr txBox="1"/>
          <p:nvPr/>
        </p:nvSpPr>
        <p:spPr>
          <a:xfrm>
            <a:off x="7170268" y="4773168"/>
            <a:ext cx="4289908" cy="411480"/>
          </a:xfrm>
          <a:prstGeom prst="rect">
            <a:avLst/>
          </a:prstGeom>
          <a:noFill/>
          <a:ln/>
        </p:spPr>
        <p:txBody>
          <a:bodyPr wrap="square" lIns="0" tIns="0" rIns="0" bIns="0" rtlCol="0" anchor="ctr"/>
          <a:lstStyle/>
          <a:p>
            <a:pPr indent="0" marL="0">
              <a:buNone/>
            </a:pPr>
            <a:r>
              <a:rPr lang="en-US" sz="1700" b="1" dirty="0">
                <a:solidFill>
                  <a:schemeClr val="tx1"/>
                </a:solidFill>
              </a:rPr>
              <a:t>Measure from the source of truth</a:t>
            </a:r>
            <a:endParaRPr lang="en-US" sz="1700" dirty="0"/>
          </a:p>
        </p:txBody>
      </p:sp>
      <p:sp>
        <p:nvSpPr>
          <p:cNvPr id="32" name="Text 24"/>
          <p:cNvSpPr txBox="1"/>
          <p:nvPr/>
        </p:nvSpPr>
        <p:spPr>
          <a:xfrm>
            <a:off x="7170268" y="5230368"/>
            <a:ext cx="4289908" cy="640080"/>
          </a:xfrm>
          <a:prstGeom prst="rect">
            <a:avLst/>
          </a:prstGeom>
          <a:noFill/>
          <a:ln/>
        </p:spPr>
        <p:txBody>
          <a:bodyPr wrap="square" lIns="0" tIns="0" rIns="0" bIns="0" rtlCol="0" anchor="t"/>
          <a:lstStyle/>
          <a:p>
            <a:pPr indent="0" marL="0">
              <a:buNone/>
            </a:pPr>
            <a:r>
              <a:rPr lang="en-US" sz="1300" dirty="0">
                <a:solidFill>
                  <a:schemeClr val="tx2"/>
                </a:solidFill>
              </a:rPr>
              <a:t>DB-backed gauges agree across replicas; per-pod counters did not.</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is verified, and what is next</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2834640"/>
                <a:gridCol w="7436815"/>
              </a:tblGrid>
              <a:tr h="457200">
                <a:tc>
                  <a:txBody>
                    <a:bodyPr/>
                    <a:lstStyle/>
                    <a:p>
                      <a:pPr indent="0" marL="0">
                        <a:buNone/>
                      </a:pP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Area</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Evidence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App, tests, migrations</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21 pytest + 5 vitest; migrations on PostgreSQL 17</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UI</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every dialog clicked through on the live stack; mobile at 390px</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Docker + Trivy</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compose brings up 4 services; both images non-root and scan clean</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Kubernetes + Helm</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installed by Terraform; upgrades + rolling restart tested; helm test passing</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Ingress · HPA · monitoring</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routing verified; HPA 2 → 6; targets UP; dashboard populated</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Troubleshooting lab</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all 5 scenarios reproduce their symptom</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Terraform</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plan / apply / destroy on minikube; destroy leaves nothing behind</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accent2"/>
                          </a:solidFill>
                        </a:rPr>
                        <a:t>Done</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Argo CD (GitOps)</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local Git server: sync in 18 s, self-heal in 2 s; GitHub-backed after the push</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b="1" dirty="0">
                          <a:solidFill>
                            <a:schemeClr val="accent3"/>
                          </a:solidFill>
                        </a:rPr>
                        <a:t>Next</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GitHub Actions</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actionlint clean; runs once the repo is pushed to GitHub</a:t>
                      </a:r>
                      <a:endParaRPr lang="en-US" sz="14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280160"/>
          </a:xfrm>
          <a:prstGeom prst="rect">
            <a:avLst/>
          </a:prstGeom>
          <a:noFill/>
          <a:ln/>
        </p:spPr>
        <p:txBody>
          <a:bodyPr wrap="square" lIns="0" tIns="0" rIns="0" bIns="0" rtlCol="0" anchor="b"/>
          <a:lstStyle/>
          <a:p>
            <a:pPr algn="l" indent="0" marL="0">
              <a:buNone/>
            </a:pPr>
            <a:r>
              <a:rPr lang="en-US" sz="5400" b="1" dirty="0">
                <a:solidFill>
                  <a:schemeClr val="bg1"/>
                </a:solidFill>
              </a:rPr>
              <a:t>Live demo</a:t>
            </a:r>
            <a:endParaRPr lang="en-US" sz="5400" dirty="0"/>
          </a:p>
        </p:txBody>
      </p:sp>
      <p:sp>
        <p:nvSpPr>
          <p:cNvPr id="3" name="Text 0"/>
          <p:cNvSpPr/>
          <p:nvPr>
            <p:ph idx="101" type="body" hasCustomPrompt="1"/>
          </p:nvPr>
        </p:nvSpPr>
        <p:spPr>
          <a:xfrm>
            <a:off x="548640" y="3246120"/>
            <a:ext cx="5852160" cy="1188720"/>
          </a:xfrm>
          <a:prstGeom prst="rect">
            <a:avLst/>
          </a:prstGeom>
          <a:noFill/>
          <a:ln/>
        </p:spPr>
        <p:txBody>
          <a:bodyPr wrap="square" lIns="0" tIns="0" rIns="0" bIns="0" rtlCol="0" anchor="t"/>
          <a:lstStyle/>
          <a:p>
            <a:pPr algn="l" indent="0" marL="0">
              <a:buNone/>
            </a:pPr>
            <a:r>
              <a:rPr lang="en-US" sz="2200" dirty="0">
                <a:solidFill>
                  <a:schemeClr val="bg2"/>
                </a:solidFill>
              </a:rPr>
              <a:t>Code → CI/CD → Terraform → Argo CD → Kubernetes → Prometheus → Grafana</a:t>
            </a:r>
            <a:endParaRPr lang="en-US" sz="2200" dirty="0"/>
          </a:p>
        </p:txBody>
      </p:sp>
      <p:sp>
        <p:nvSpPr>
          <p:cNvPr id="4" name="step"/>
          <p:cNvSpPr/>
          <p:nvPr/>
        </p:nvSpPr>
        <p:spPr>
          <a:xfrm>
            <a:off x="7040880" y="9144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040880" y="914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680960" y="896112"/>
            <a:ext cx="4023360" cy="502920"/>
          </a:xfrm>
          <a:prstGeom prst="rect">
            <a:avLst/>
          </a:prstGeom>
          <a:noFill/>
          <a:ln/>
        </p:spPr>
        <p:txBody>
          <a:bodyPr wrap="square" lIns="0" tIns="0" rIns="0" bIns="0" rtlCol="0" anchor="ctr"/>
          <a:lstStyle/>
          <a:p>
            <a:pPr indent="0" marL="0">
              <a:buNone/>
            </a:pPr>
            <a:r>
              <a:rPr lang="en-US" sz="1600" dirty="0">
                <a:solidFill>
                  <a:schemeClr val="bg1"/>
                </a:solidFill>
              </a:rPr>
              <a:t>Codebase: folder structure and key files</a:t>
            </a:r>
            <a:endParaRPr lang="en-US" sz="1600" dirty="0"/>
          </a:p>
        </p:txBody>
      </p:sp>
      <p:sp>
        <p:nvSpPr>
          <p:cNvPr id="7" name="step"/>
          <p:cNvSpPr/>
          <p:nvPr/>
        </p:nvSpPr>
        <p:spPr>
          <a:xfrm>
            <a:off x="7040880" y="1609344"/>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7040880" y="16093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7680960" y="1591056"/>
            <a:ext cx="4023360" cy="502920"/>
          </a:xfrm>
          <a:prstGeom prst="rect">
            <a:avLst/>
          </a:prstGeom>
          <a:noFill/>
          <a:ln/>
        </p:spPr>
        <p:txBody>
          <a:bodyPr wrap="square" lIns="0" tIns="0" rIns="0" bIns="0" rtlCol="0" anchor="ctr"/>
          <a:lstStyle/>
          <a:p>
            <a:pPr indent="0" marL="0">
              <a:buNone/>
            </a:pPr>
            <a:r>
              <a:rPr lang="en-US" sz="1600" dirty="0">
                <a:solidFill>
                  <a:schemeClr val="bg1"/>
                </a:solidFill>
              </a:rPr>
              <a:t>Push a change; the pipeline runs end to end</a:t>
            </a:r>
            <a:endParaRPr lang="en-US" sz="1600" dirty="0"/>
          </a:p>
        </p:txBody>
      </p:sp>
      <p:sp>
        <p:nvSpPr>
          <p:cNvPr id="10" name="step"/>
          <p:cNvSpPr/>
          <p:nvPr/>
        </p:nvSpPr>
        <p:spPr>
          <a:xfrm>
            <a:off x="7040880" y="2304288"/>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7040880" y="23042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7680960" y="2286000"/>
            <a:ext cx="4023360" cy="502920"/>
          </a:xfrm>
          <a:prstGeom prst="rect">
            <a:avLst/>
          </a:prstGeom>
          <a:noFill/>
          <a:ln/>
        </p:spPr>
        <p:txBody>
          <a:bodyPr wrap="square" lIns="0" tIns="0" rIns="0" bIns="0" rtlCol="0" anchor="ctr"/>
          <a:lstStyle/>
          <a:p>
            <a:pPr indent="0" marL="0">
              <a:buNone/>
            </a:pPr>
            <a:r>
              <a:rPr lang="en-US" sz="1600" dirty="0">
                <a:solidFill>
                  <a:schemeClr val="bg1"/>
                </a:solidFill>
              </a:rPr>
              <a:t>Terraform plan / state on the local cluster</a:t>
            </a:r>
            <a:endParaRPr lang="en-US" sz="1600" dirty="0"/>
          </a:p>
        </p:txBody>
      </p:sp>
      <p:sp>
        <p:nvSpPr>
          <p:cNvPr id="13" name="step"/>
          <p:cNvSpPr/>
          <p:nvPr/>
        </p:nvSpPr>
        <p:spPr>
          <a:xfrm>
            <a:off x="7040880" y="2999232"/>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7040880" y="29992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7680960" y="2980944"/>
            <a:ext cx="4023360" cy="502920"/>
          </a:xfrm>
          <a:prstGeom prst="rect">
            <a:avLst/>
          </a:prstGeom>
          <a:noFill/>
          <a:ln/>
        </p:spPr>
        <p:txBody>
          <a:bodyPr wrap="square" lIns="0" tIns="0" rIns="0" bIns="0" rtlCol="0" anchor="ctr"/>
          <a:lstStyle/>
          <a:p>
            <a:pPr indent="0" marL="0">
              <a:buNone/>
            </a:pPr>
            <a:r>
              <a:rPr lang="en-US" sz="1600" dirty="0">
                <a:solidFill>
                  <a:schemeClr val="bg1"/>
                </a:solidFill>
              </a:rPr>
              <a:t>Argo CD: synced app, GitOps flow, self-heal</a:t>
            </a:r>
            <a:endParaRPr lang="en-US" sz="1600" dirty="0"/>
          </a:p>
        </p:txBody>
      </p:sp>
      <p:sp>
        <p:nvSpPr>
          <p:cNvPr id="16" name="step"/>
          <p:cNvSpPr/>
          <p:nvPr/>
        </p:nvSpPr>
        <p:spPr>
          <a:xfrm>
            <a:off x="7040880" y="3694176"/>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040880" y="3694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7680960" y="3675888"/>
            <a:ext cx="4023360" cy="502920"/>
          </a:xfrm>
          <a:prstGeom prst="rect">
            <a:avLst/>
          </a:prstGeom>
          <a:noFill/>
          <a:ln/>
        </p:spPr>
        <p:txBody>
          <a:bodyPr wrap="square" lIns="0" tIns="0" rIns="0" bIns="0" rtlCol="0" anchor="ctr"/>
          <a:lstStyle/>
          <a:p>
            <a:pPr indent="0" marL="0">
              <a:buNone/>
            </a:pPr>
            <a:r>
              <a:rPr lang="en-US" sz="1600" dirty="0">
                <a:solidFill>
                  <a:schemeClr val="bg1"/>
                </a:solidFill>
              </a:rPr>
              <a:t>Kubernetes: pods, services, ingress, the app</a:t>
            </a:r>
            <a:endParaRPr lang="en-US" sz="1600" dirty="0"/>
          </a:p>
        </p:txBody>
      </p:sp>
      <p:sp>
        <p:nvSpPr>
          <p:cNvPr id="19" name="step"/>
          <p:cNvSpPr/>
          <p:nvPr/>
        </p:nvSpPr>
        <p:spPr>
          <a:xfrm>
            <a:off x="7040880" y="438912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7040880" y="4389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1" name="Text 19"/>
          <p:cNvSpPr txBox="1"/>
          <p:nvPr/>
        </p:nvSpPr>
        <p:spPr>
          <a:xfrm>
            <a:off x="7680960" y="4370832"/>
            <a:ext cx="4023360" cy="502920"/>
          </a:xfrm>
          <a:prstGeom prst="rect">
            <a:avLst/>
          </a:prstGeom>
          <a:noFill/>
          <a:ln/>
        </p:spPr>
        <p:txBody>
          <a:bodyPr wrap="square" lIns="0" tIns="0" rIns="0" bIns="0" rtlCol="0" anchor="ctr"/>
          <a:lstStyle/>
          <a:p>
            <a:pPr indent="0" marL="0">
              <a:buNone/>
            </a:pPr>
            <a:r>
              <a:rPr lang="en-US" sz="1600" dirty="0">
                <a:solidFill>
                  <a:schemeClr val="bg1"/>
                </a:solidFill>
              </a:rPr>
              <a:t>Prometheus targets UP</a:t>
            </a:r>
            <a:endParaRPr lang="en-US" sz="1600" dirty="0"/>
          </a:p>
        </p:txBody>
      </p:sp>
      <p:sp>
        <p:nvSpPr>
          <p:cNvPr id="22" name="step"/>
          <p:cNvSpPr/>
          <p:nvPr/>
        </p:nvSpPr>
        <p:spPr>
          <a:xfrm>
            <a:off x="7040880" y="5084064"/>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7040880" y="50840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4" name="Text 22"/>
          <p:cNvSpPr txBox="1"/>
          <p:nvPr/>
        </p:nvSpPr>
        <p:spPr>
          <a:xfrm>
            <a:off x="7680960" y="5065776"/>
            <a:ext cx="4023360" cy="502920"/>
          </a:xfrm>
          <a:prstGeom prst="rect">
            <a:avLst/>
          </a:prstGeom>
          <a:noFill/>
          <a:ln/>
        </p:spPr>
        <p:txBody>
          <a:bodyPr wrap="square" lIns="0" tIns="0" rIns="0" bIns="0" rtlCol="0" anchor="ctr"/>
          <a:lstStyle/>
          <a:p>
            <a:pPr indent="0" marL="0">
              <a:buNone/>
            </a:pPr>
            <a:r>
              <a:rPr lang="en-US" sz="1600" dirty="0">
                <a:solidFill>
                  <a:schemeClr val="bg1"/>
                </a:solidFill>
              </a:rPr>
              <a:t>Grafana live while the HPA scales out</a:t>
            </a:r>
            <a:endParaRPr lang="en-US" sz="1600" dirty="0"/>
          </a:p>
        </p:txBody>
      </p:sp>
      <p:sp>
        <p:nvSpPr>
          <p:cNvPr id="25" name="Text 23"/>
          <p:cNvSpPr txBox="1"/>
          <p:nvPr/>
        </p:nvSpPr>
        <p:spPr>
          <a:xfrm>
            <a:off x="548640" y="4846320"/>
            <a:ext cx="5852160" cy="457200"/>
          </a:xfrm>
          <a:prstGeom prst="rect">
            <a:avLst/>
          </a:prstGeom>
          <a:noFill/>
          <a:ln/>
        </p:spPr>
        <p:txBody>
          <a:bodyPr wrap="square" lIns="0" tIns="0" rIns="0" bIns="0" rtlCol="0" anchor="t"/>
          <a:lstStyle/>
          <a:p>
            <a:pPr indent="0" marL="0">
              <a:buNone/>
            </a:pPr>
            <a:r>
              <a:rPr lang="en-US" sz="2000" b="1" dirty="0">
                <a:solidFill>
                  <a:schemeClr val="accent3"/>
                </a:solidFill>
              </a:rPr>
              <a:t>Thank you</a:t>
            </a:r>
            <a:endParaRPr lang="en-US" sz="2000" dirty="0"/>
          </a:p>
        </p:txBody>
      </p:sp>
    </p:spTree>
  </p:cSld>
  <p:clrMapOvr>
    <a:masterClrMapping/>
  </p:clrMapOvr>
</p:sld>
</file>

<file path=ppt/theme/theme1.xml><?xml version="1.0" encoding="utf-8"?>
<a:theme xmlns:a="http://schemas.openxmlformats.org/drawingml/2006/main" name="GearLoop">
  <a:themeElements>
    <a:clrScheme name="GearLoop">
      <a:dk1>
        <a:srgbClr val="2B211B"/>
      </a:dk1>
      <a:lt1>
        <a:srgbClr val="FFFFFF"/>
      </a:lt1>
      <a:dk2>
        <a:srgbClr val="5A4A3F"/>
      </a:dk2>
      <a:lt2>
        <a:srgbClr val="F7F2EC"/>
      </a:lt2>
      <a:accent1>
        <a:srgbClr val="C2410C"/>
      </a:accent1>
      <a:accent2>
        <a:srgbClr val="3D7A4A"/>
      </a:accent2>
      <a:accent3>
        <a:srgbClr val="B7791F"/>
      </a:accent3>
      <a:accent4>
        <a:srgbClr val="B91C1C"/>
      </a:accent4>
      <a:accent5>
        <a:srgbClr val="5A6B8C"/>
      </a:accent5>
      <a:accent6>
        <a:srgbClr val="8A7F73"/>
      </a:accent6>
      <a:hlink>
        <a:srgbClr val="C2410C"/>
      </a:hlink>
      <a:folHlink>
        <a:srgbClr val="8A4A2B"/>
      </a:folHlink>
    </a:clrScheme>
    <a:fontScheme name="GearLo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GearLoop - DevOps Capstone</dc:title>
  <dc:subject>DevOps Final Capstone</dc:subject>
  <dc:creator>Aastik Nayyar</dc:creator>
  <cp:lastModifiedBy>Aastik Nayyar</cp:lastModifiedBy>
  <cp:revision>1</cp:revision>
  <dcterms:created xsi:type="dcterms:W3CDTF">2026-10-16T17:07:29Z</dcterms:created>
  <dcterms:modified xsi:type="dcterms:W3CDTF">2026-10-16T17:07:29Z</dcterms:modified>
</cp:coreProperties>
</file>